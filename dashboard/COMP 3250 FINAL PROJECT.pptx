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" charset="1" panose="020B0502030000000004"/>
      <p:regular r:id="rId16"/>
    </p:embeddedFont>
    <p:embeddedFont>
      <p:font typeface="Inter Bold" charset="1" panose="020B080203000000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https://learn.microsoft.com/en-us/power-bi/" TargetMode="External" Type="http://schemas.openxmlformats.org/officeDocument/2006/relationships/hyperlink"/><Relationship Id="rId6" Target="https://python-yahoofinance.readthedocs.io/en/latest/api.html" TargetMode="External" Type="http://schemas.openxmlformats.org/officeDocument/2006/relationships/hyperlink"/><Relationship Id="rId7" Target="https://ranaroussi.github.io/yfinance/" TargetMode="External" Type="http://schemas.openxmlformats.org/officeDocument/2006/relationships/hyperlink"/><Relationship Id="rId8" Target="https://finance.yahoo.com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88962"/>
            <a:ext cx="8442802" cy="6309076"/>
          </a:xfrm>
          <a:custGeom>
            <a:avLst/>
            <a:gdLst/>
            <a:ahLst/>
            <a:cxnLst/>
            <a:rect r="r" b="b" t="t" l="l"/>
            <a:pathLst>
              <a:path h="6309076" w="8442802">
                <a:moveTo>
                  <a:pt x="0" y="0"/>
                </a:moveTo>
                <a:lnTo>
                  <a:pt x="8442802" y="0"/>
                </a:lnTo>
                <a:lnTo>
                  <a:pt x="8442802" y="6309076"/>
                </a:lnTo>
                <a:lnTo>
                  <a:pt x="0" y="6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633119"/>
            <a:ext cx="4509493" cy="2385932"/>
          </a:xfrm>
          <a:custGeom>
            <a:avLst/>
            <a:gdLst/>
            <a:ahLst/>
            <a:cxnLst/>
            <a:rect r="r" b="b" t="t" l="l"/>
            <a:pathLst>
              <a:path h="2385932" w="4509493">
                <a:moveTo>
                  <a:pt x="0" y="0"/>
                </a:moveTo>
                <a:lnTo>
                  <a:pt x="4509493" y="0"/>
                </a:lnTo>
                <a:lnTo>
                  <a:pt x="4509493" y="2385932"/>
                </a:lnTo>
                <a:lnTo>
                  <a:pt x="0" y="2385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2266001"/>
            <a:ext cx="6837281" cy="4114800"/>
          </a:xfrm>
          <a:custGeom>
            <a:avLst/>
            <a:gdLst/>
            <a:ahLst/>
            <a:cxnLst/>
            <a:rect r="r" b="b" t="t" l="l"/>
            <a:pathLst>
              <a:path h="4114800" w="6837281">
                <a:moveTo>
                  <a:pt x="0" y="0"/>
                </a:moveTo>
                <a:lnTo>
                  <a:pt x="6837281" y="0"/>
                </a:lnTo>
                <a:lnTo>
                  <a:pt x="68372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7178" y="4513901"/>
            <a:ext cx="7089078" cy="312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0"/>
              </a:lnSpc>
            </a:pPr>
            <a:r>
              <a:rPr lang="en-US" sz="6775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Data Analysis on </a:t>
            </a:r>
            <a:r>
              <a:rPr lang="en-US" b="true" sz="6775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Market Timings vs Long-Term Investing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7178" y="3800859"/>
            <a:ext cx="3861643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COMP 3250 PROJECT, GROUP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31753"/>
            <a:ext cx="6132571" cy="284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8106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Team </a:t>
            </a:r>
            <a:r>
              <a:rPr lang="en-US" b="true" sz="8106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Members and Roles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2926833" y="7087886"/>
            <a:ext cx="6837281" cy="4114800"/>
          </a:xfrm>
          <a:custGeom>
            <a:avLst/>
            <a:gdLst/>
            <a:ahLst/>
            <a:cxnLst/>
            <a:rect r="r" b="b" t="t" l="l"/>
            <a:pathLst>
              <a:path h="4114800" w="6837281">
                <a:moveTo>
                  <a:pt x="6837281" y="0"/>
                </a:moveTo>
                <a:lnTo>
                  <a:pt x="0" y="0"/>
                </a:lnTo>
                <a:lnTo>
                  <a:pt x="0" y="4114800"/>
                </a:lnTo>
                <a:lnTo>
                  <a:pt x="6837281" y="4114800"/>
                </a:lnTo>
                <a:lnTo>
                  <a:pt x="6837281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97696" y="6375035"/>
            <a:ext cx="4528379" cy="2725261"/>
          </a:xfrm>
          <a:custGeom>
            <a:avLst/>
            <a:gdLst/>
            <a:ahLst/>
            <a:cxnLst/>
            <a:rect r="r" b="b" t="t" l="l"/>
            <a:pathLst>
              <a:path h="2725261" w="4528379">
                <a:moveTo>
                  <a:pt x="0" y="0"/>
                </a:moveTo>
                <a:lnTo>
                  <a:pt x="4528379" y="0"/>
                </a:lnTo>
                <a:lnTo>
                  <a:pt x="4528379" y="2725261"/>
                </a:lnTo>
                <a:lnTo>
                  <a:pt x="0" y="2725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07678"/>
            <a:ext cx="2368637" cy="2144693"/>
          </a:xfrm>
          <a:custGeom>
            <a:avLst/>
            <a:gdLst/>
            <a:ahLst/>
            <a:cxnLst/>
            <a:rect r="r" b="b" t="t" l="l"/>
            <a:pathLst>
              <a:path h="2144693" w="2368637">
                <a:moveTo>
                  <a:pt x="0" y="0"/>
                </a:moveTo>
                <a:lnTo>
                  <a:pt x="2368637" y="0"/>
                </a:lnTo>
                <a:lnTo>
                  <a:pt x="2368637" y="2144693"/>
                </a:lnTo>
                <a:lnTo>
                  <a:pt x="0" y="21446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79870" y="1430162"/>
            <a:ext cx="8969470" cy="677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7"/>
              </a:lnSpc>
            </a:pPr>
            <a:r>
              <a:rPr lang="en-US" sz="2155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Ada Taing - Business/Data Analyst​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Defined investment problem, selected evaluation metrics, interpreted simulation results, and ensured alignment with casual investor needs. 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algn="just">
              <a:lnSpc>
                <a:spcPts val="3017"/>
              </a:lnSpc>
            </a:pPr>
            <a:r>
              <a:rPr lang="en-US" sz="2155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Adedeji Adeboyejo - Data Engineer 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Retrieved ETF data via Yahoo Finance API, cleaned and prepared datasets, calculated indicators, and simulated all six investment strategies. 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algn="just">
              <a:lnSpc>
                <a:spcPts val="3017"/>
              </a:lnSpc>
            </a:pPr>
            <a:r>
              <a:rPr lang="en-US" sz="2155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Aidan Zhu - Visualization Developer </a:t>
            </a: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Designed and implemented the interactive Power BI dashboard, ensuring accessibility and clarity for a non-expert audience. 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algn="just">
              <a:lnSpc>
                <a:spcPts val="3017"/>
              </a:lnSpc>
            </a:pPr>
            <a:r>
              <a:rPr lang="en-US" sz="2155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Mani Manav - Documentation Lead 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Maintained project documentation and prepared the final written report and video presentation. </a:t>
            </a:r>
          </a:p>
          <a:p>
            <a:pPr algn="just">
              <a:lnSpc>
                <a:spcPts val="245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797825" y="7937357"/>
            <a:ext cx="6837281" cy="4114800"/>
          </a:xfrm>
          <a:custGeom>
            <a:avLst/>
            <a:gdLst/>
            <a:ahLst/>
            <a:cxnLst/>
            <a:rect r="r" b="b" t="t" l="l"/>
            <a:pathLst>
              <a:path h="4114800" w="6837281">
                <a:moveTo>
                  <a:pt x="6837281" y="0"/>
                </a:moveTo>
                <a:lnTo>
                  <a:pt x="0" y="0"/>
                </a:lnTo>
                <a:lnTo>
                  <a:pt x="0" y="4114800"/>
                </a:lnTo>
                <a:lnTo>
                  <a:pt x="6837281" y="4114800"/>
                </a:lnTo>
                <a:lnTo>
                  <a:pt x="6837281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598215"/>
            <a:ext cx="6019044" cy="4782404"/>
          </a:xfrm>
          <a:custGeom>
            <a:avLst/>
            <a:gdLst/>
            <a:ahLst/>
            <a:cxnLst/>
            <a:rect r="r" b="b" t="t" l="l"/>
            <a:pathLst>
              <a:path h="4782404" w="6019044">
                <a:moveTo>
                  <a:pt x="0" y="0"/>
                </a:moveTo>
                <a:lnTo>
                  <a:pt x="6019044" y="0"/>
                </a:lnTo>
                <a:lnTo>
                  <a:pt x="6019044" y="4782404"/>
                </a:lnTo>
                <a:lnTo>
                  <a:pt x="0" y="47824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8633" y="5086553"/>
            <a:ext cx="5688858" cy="3764990"/>
          </a:xfrm>
          <a:custGeom>
            <a:avLst/>
            <a:gdLst/>
            <a:ahLst/>
            <a:cxnLst/>
            <a:rect r="r" b="b" t="t" l="l"/>
            <a:pathLst>
              <a:path h="3764990" w="5688858">
                <a:moveTo>
                  <a:pt x="0" y="0"/>
                </a:moveTo>
                <a:lnTo>
                  <a:pt x="5688858" y="0"/>
                </a:lnTo>
                <a:lnTo>
                  <a:pt x="5688858" y="3764989"/>
                </a:lnTo>
                <a:lnTo>
                  <a:pt x="0" y="37649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30897" y="2089819"/>
            <a:ext cx="8166929" cy="101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4"/>
              </a:lnSpc>
            </a:pPr>
            <a:r>
              <a:rPr lang="en-US" sz="8263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Problem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50279" y="3550590"/>
            <a:ext cx="9345977" cy="640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7"/>
              </a:lnSpc>
            </a:pPr>
            <a:r>
              <a:rPr lang="en-US" sz="1862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Problem: ​</a:t>
            </a:r>
          </a:p>
          <a:p>
            <a:pPr algn="just">
              <a:lnSpc>
                <a:spcPts val="2607"/>
              </a:lnSpc>
            </a:pPr>
            <a:r>
              <a:rPr lang="en-US" sz="1862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Many casual investors want to grow their money, but it is not always clear whether they are better off using a market timing strategy or a long-term buy-and-hold strategy.</a:t>
            </a:r>
          </a:p>
          <a:p>
            <a:pPr algn="just">
              <a:lnSpc>
                <a:spcPts val="2607"/>
              </a:lnSpc>
            </a:pPr>
          </a:p>
          <a:p>
            <a:pPr algn="just">
              <a:lnSpc>
                <a:spcPts val="2607"/>
              </a:lnSpc>
            </a:pPr>
            <a:r>
              <a:rPr lang="en-US" sz="1862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Main Problem: </a:t>
            </a:r>
          </a:p>
          <a:p>
            <a:pPr algn="just">
              <a:lnSpc>
                <a:spcPts val="2607"/>
              </a:lnSpc>
            </a:pPr>
            <a:r>
              <a:rPr lang="en-US" sz="1862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When it comes to investing to make a profit, are casual investors better off with market timing or long-term investing?</a:t>
            </a:r>
          </a:p>
          <a:p>
            <a:pPr algn="just">
              <a:lnSpc>
                <a:spcPts val="2607"/>
              </a:lnSpc>
            </a:pPr>
          </a:p>
          <a:p>
            <a:pPr algn="just">
              <a:lnSpc>
                <a:spcPts val="2607"/>
              </a:lnSpc>
            </a:pPr>
            <a:r>
              <a:rPr lang="en-US" sz="1862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Goal: ​</a:t>
            </a:r>
          </a:p>
          <a:p>
            <a:pPr algn="just">
              <a:lnSpc>
                <a:spcPts val="2607"/>
              </a:lnSpc>
            </a:pPr>
            <a:r>
              <a:rPr lang="en-US" sz="1862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The goal of this project was to compare these two strategies using performance and risk metrics, then present the results in an interactive dashboard.</a:t>
            </a:r>
          </a:p>
          <a:p>
            <a:pPr algn="just">
              <a:lnSpc>
                <a:spcPts val="2607"/>
              </a:lnSpc>
            </a:pPr>
          </a:p>
          <a:p>
            <a:pPr algn="just">
              <a:lnSpc>
                <a:spcPts val="2607"/>
              </a:lnSpc>
            </a:pPr>
            <a:r>
              <a:rPr lang="en-US" sz="1862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Target users: </a:t>
            </a:r>
          </a:p>
          <a:p>
            <a:pPr algn="just" marL="402095" indent="-201047" lvl="1">
              <a:lnSpc>
                <a:spcPts val="2607"/>
              </a:lnSpc>
              <a:buFont typeface="Arial"/>
              <a:buChar char="•"/>
            </a:pPr>
            <a:r>
              <a:rPr lang="en-US" sz="1862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Casual investors</a:t>
            </a:r>
          </a:p>
          <a:p>
            <a:pPr algn="just" marL="402095" indent="-201047" lvl="1">
              <a:lnSpc>
                <a:spcPts val="2607"/>
              </a:lnSpc>
              <a:buFont typeface="Arial"/>
              <a:buChar char="•"/>
            </a:pPr>
            <a:r>
              <a:rPr lang="en-US" sz="1862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Students learning investment analytics</a:t>
            </a:r>
          </a:p>
          <a:p>
            <a:pPr algn="just" marL="402095" indent="-201047" lvl="1">
              <a:lnSpc>
                <a:spcPts val="2607"/>
              </a:lnSpc>
              <a:buFont typeface="Arial"/>
              <a:buChar char="•"/>
            </a:pPr>
            <a:r>
              <a:rPr lang="en-US" sz="1862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Users interested in comparing investment strategies visually</a:t>
            </a:r>
          </a:p>
          <a:p>
            <a:pPr algn="just">
              <a:lnSpc>
                <a:spcPts val="2226"/>
              </a:lnSpc>
            </a:pPr>
          </a:p>
          <a:p>
            <a:pPr algn="just">
              <a:lnSpc>
                <a:spcPts val="2226"/>
              </a:lnSpc>
            </a:pPr>
          </a:p>
          <a:p>
            <a:pPr algn="just">
              <a:lnSpc>
                <a:spcPts val="22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60057" y="3036552"/>
            <a:ext cx="4246353" cy="4906501"/>
          </a:xfrm>
          <a:custGeom>
            <a:avLst/>
            <a:gdLst/>
            <a:ahLst/>
            <a:cxnLst/>
            <a:rect r="r" b="b" t="t" l="l"/>
            <a:pathLst>
              <a:path h="4906501" w="4246353">
                <a:moveTo>
                  <a:pt x="0" y="0"/>
                </a:moveTo>
                <a:lnTo>
                  <a:pt x="4246353" y="0"/>
                </a:lnTo>
                <a:lnTo>
                  <a:pt x="4246353" y="4906500"/>
                </a:lnTo>
                <a:lnTo>
                  <a:pt x="0" y="490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27765" y="1658583"/>
            <a:ext cx="2592115" cy="2592115"/>
          </a:xfrm>
          <a:custGeom>
            <a:avLst/>
            <a:gdLst/>
            <a:ahLst/>
            <a:cxnLst/>
            <a:rect r="r" b="b" t="t" l="l"/>
            <a:pathLst>
              <a:path h="2592115" w="2592115">
                <a:moveTo>
                  <a:pt x="0" y="0"/>
                </a:moveTo>
                <a:lnTo>
                  <a:pt x="2592115" y="0"/>
                </a:lnTo>
                <a:lnTo>
                  <a:pt x="2592115" y="2592115"/>
                </a:lnTo>
                <a:lnTo>
                  <a:pt x="0" y="2592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3642" y="1915758"/>
            <a:ext cx="9352416" cy="110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5"/>
              </a:lnSpc>
            </a:pPr>
            <a:r>
              <a:rPr lang="en-US" sz="9006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Overall</a:t>
            </a:r>
            <a:r>
              <a:rPr lang="en-US" b="true" sz="9006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 Solution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096999" y="6285452"/>
            <a:ext cx="2592115" cy="2592115"/>
          </a:xfrm>
          <a:custGeom>
            <a:avLst/>
            <a:gdLst/>
            <a:ahLst/>
            <a:cxnLst/>
            <a:rect r="r" b="b" t="t" l="l"/>
            <a:pathLst>
              <a:path h="2592115" w="2592115">
                <a:moveTo>
                  <a:pt x="0" y="0"/>
                </a:moveTo>
                <a:lnTo>
                  <a:pt x="2592115" y="0"/>
                </a:lnTo>
                <a:lnTo>
                  <a:pt x="2592115" y="2592115"/>
                </a:lnTo>
                <a:lnTo>
                  <a:pt x="0" y="2592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3642" y="3617974"/>
            <a:ext cx="8772152" cy="63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58"/>
              </a:lnSpc>
              <a:spcBef>
                <a:spcPct val="0"/>
              </a:spcBef>
            </a:pPr>
            <a:r>
              <a:rPr lang="en-US" sz="1827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To answer the pr</a:t>
            </a:r>
            <a:r>
              <a:rPr lang="en-US" sz="1827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oject question, we developed a dashboard-based analytics solution that compares Buy and Hold and Timing strategies.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3642" y="4438308"/>
            <a:ext cx="7897713" cy="205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Our s</a:t>
            </a: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olution included: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collecting and preparing the investment data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comparing the strategies using financial performance measures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building an interactive dashboard in Power BI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using visuals and KPI summaries to support interpretation</a:t>
            </a:r>
          </a:p>
          <a:p>
            <a:pPr algn="just">
              <a:lnSpc>
                <a:spcPts val="2737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53642" y="6541296"/>
            <a:ext cx="11216878" cy="2741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Met</a:t>
            </a: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rics used in the comparison: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Final Value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Volatility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Sharpe Ratio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Maximum Drawdown</a:t>
            </a:r>
          </a:p>
          <a:p>
            <a:pPr algn="just">
              <a:lnSpc>
                <a:spcPts val="2737"/>
              </a:lnSpc>
              <a:spcBef>
                <a:spcPct val="0"/>
              </a:spcBef>
            </a:pPr>
          </a:p>
          <a:p>
            <a:pPr algn="just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This allowed us to evaluate both profitability and risk rather than focusing on only one measure.</a:t>
            </a:r>
          </a:p>
          <a:p>
            <a:pPr algn="just">
              <a:lnSpc>
                <a:spcPts val="273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3691" y="784583"/>
            <a:ext cx="8700618" cy="812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6606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Dashboard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55137" y="1047988"/>
            <a:ext cx="1682238" cy="34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005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13794"/>
            <a:ext cx="9231108" cy="514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Our dashboard was designed t</a:t>
            </a: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 help users compare the two strategies clearly and interactively.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Main dashboard features: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visual comparison of strategy performance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KPI cards for key financial metrics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charts showing strategy outcomes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filters/slicers for easier analysis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multiple pages for different views of the results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Dashboard Purpose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The dashboard helps users quickly identify: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which strategy made the most money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which strategy had the least risk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which strategy was most efficient relative to risk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how severe losses could become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424148" y="3212674"/>
            <a:ext cx="7454197" cy="5591328"/>
          </a:xfrm>
          <a:custGeom>
            <a:avLst/>
            <a:gdLst/>
            <a:ahLst/>
            <a:cxnLst/>
            <a:rect r="r" b="b" t="t" l="l"/>
            <a:pathLst>
              <a:path h="5591328" w="7454197">
                <a:moveTo>
                  <a:pt x="0" y="0"/>
                </a:moveTo>
                <a:lnTo>
                  <a:pt x="7454197" y="0"/>
                </a:lnTo>
                <a:lnTo>
                  <a:pt x="7454197" y="5591329"/>
                </a:lnTo>
                <a:lnTo>
                  <a:pt x="0" y="5591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82" b="-1728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80339" y="0"/>
            <a:ext cx="6837281" cy="4114800"/>
          </a:xfrm>
          <a:custGeom>
            <a:avLst/>
            <a:gdLst/>
            <a:ahLst/>
            <a:cxnLst/>
            <a:rect r="r" b="b" t="t" l="l"/>
            <a:pathLst>
              <a:path h="4114800" w="6837281">
                <a:moveTo>
                  <a:pt x="0" y="0"/>
                </a:moveTo>
                <a:lnTo>
                  <a:pt x="6837281" y="0"/>
                </a:lnTo>
                <a:lnTo>
                  <a:pt x="68372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27441" y="1314688"/>
            <a:ext cx="7233119" cy="101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8106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K</a:t>
            </a:r>
            <a:r>
              <a:rPr lang="en-US" b="true" sz="8106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ey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06613" y="2887822"/>
            <a:ext cx="10074775" cy="617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20"/>
              </a:lnSpc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Based on the completed dashboard analysis:</a:t>
            </a:r>
          </a:p>
          <a:p>
            <a:pPr algn="just" marL="589234" indent="-294617" lvl="1">
              <a:lnSpc>
                <a:spcPts val="3820"/>
              </a:lnSpc>
              <a:buFont typeface="Arial"/>
              <a:buChar char="•"/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Most money made: Buy and Hold</a:t>
            </a:r>
          </a:p>
          <a:p>
            <a:pPr algn="just" marL="589234" indent="-294617" lvl="1">
              <a:lnSpc>
                <a:spcPts val="3820"/>
              </a:lnSpc>
              <a:buFont typeface="Arial"/>
              <a:buChar char="•"/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Least overall risk: Timing</a:t>
            </a:r>
          </a:p>
          <a:p>
            <a:pPr algn="just" marL="589234" indent="-294617" lvl="1">
              <a:lnSpc>
                <a:spcPts val="3820"/>
              </a:lnSpc>
              <a:buFont typeface="Arial"/>
              <a:buChar char="•"/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Best risk-adjusted efficiency: Timing had the strongest Sharpe Ratio</a:t>
            </a:r>
          </a:p>
          <a:p>
            <a:pPr algn="just">
              <a:lnSpc>
                <a:spcPts val="3820"/>
              </a:lnSpc>
            </a:pPr>
          </a:p>
          <a:p>
            <a:pPr algn="just">
              <a:lnSpc>
                <a:spcPts val="3820"/>
              </a:lnSpc>
            </a:pPr>
            <a:r>
              <a:rPr lang="en-US" b="true" sz="2729" u="sng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What does this mean?</a:t>
            </a:r>
          </a:p>
          <a:p>
            <a:pPr algn="just">
              <a:lnSpc>
                <a:spcPts val="3820"/>
              </a:lnSpc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The Buy and Hold performed better when the goal was to maximize total profit.</a:t>
            </a:r>
          </a:p>
          <a:p>
            <a:pPr algn="just">
              <a:lnSpc>
                <a:spcPts val="3820"/>
              </a:lnSpc>
            </a:pPr>
          </a:p>
          <a:p>
            <a:pPr algn="just">
              <a:lnSpc>
                <a:spcPts val="3820"/>
              </a:lnSpc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The Market Timing Strategy performed better when the goal was to reduce volatility, improve efficiency, and limit losses.</a:t>
            </a:r>
          </a:p>
          <a:p>
            <a:pPr algn="just">
              <a:lnSpc>
                <a:spcPts val="38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4126" y="2197199"/>
            <a:ext cx="7071458" cy="5091450"/>
          </a:xfrm>
          <a:custGeom>
            <a:avLst/>
            <a:gdLst/>
            <a:ahLst/>
            <a:cxnLst/>
            <a:rect r="r" b="b" t="t" l="l"/>
            <a:pathLst>
              <a:path h="5091450" w="7071458">
                <a:moveTo>
                  <a:pt x="0" y="0"/>
                </a:moveTo>
                <a:lnTo>
                  <a:pt x="7071459" y="0"/>
                </a:lnTo>
                <a:lnTo>
                  <a:pt x="7071459" y="5091450"/>
                </a:lnTo>
                <a:lnTo>
                  <a:pt x="0" y="5091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44219" y="2197199"/>
            <a:ext cx="5886069" cy="5091450"/>
          </a:xfrm>
          <a:custGeom>
            <a:avLst/>
            <a:gdLst/>
            <a:ahLst/>
            <a:cxnLst/>
            <a:rect r="r" b="b" t="t" l="l"/>
            <a:pathLst>
              <a:path h="5091450" w="5886069">
                <a:moveTo>
                  <a:pt x="0" y="0"/>
                </a:moveTo>
                <a:lnTo>
                  <a:pt x="5886070" y="0"/>
                </a:lnTo>
                <a:lnTo>
                  <a:pt x="5886070" y="5091450"/>
                </a:lnTo>
                <a:lnTo>
                  <a:pt x="0" y="5091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08723" y="412482"/>
            <a:ext cx="2025136" cy="61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5006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​​DEMO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18181" y="60152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041338"/>
            <a:ext cx="15302525" cy="59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2"/>
              </a:lnSpc>
              <a:spcBef>
                <a:spcPct val="0"/>
              </a:spcBef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When it comes to investing to make a pr</a:t>
            </a: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ofit, Buy and Hold appears to be the better strategy for casual investors because it produced the highest overall value.</a:t>
            </a:r>
          </a:p>
          <a:p>
            <a:pPr algn="l">
              <a:lnSpc>
                <a:spcPts val="3642"/>
              </a:lnSpc>
              <a:spcBef>
                <a:spcPct val="0"/>
              </a:spcBef>
            </a:pPr>
          </a:p>
          <a:p>
            <a:pPr algn="l">
              <a:lnSpc>
                <a:spcPts val="3642"/>
              </a:lnSpc>
              <a:spcBef>
                <a:spcPct val="0"/>
              </a:spcBef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However, Timing performed better in terms of:</a:t>
            </a:r>
          </a:p>
          <a:p>
            <a:pPr algn="l" marL="561728" indent="-280864" lvl="1">
              <a:lnSpc>
                <a:spcPts val="3642"/>
              </a:lnSpc>
              <a:spcBef>
                <a:spcPct val="0"/>
              </a:spcBef>
              <a:buFont typeface="Arial"/>
              <a:buChar char="•"/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lower volatility</a:t>
            </a:r>
          </a:p>
          <a:p>
            <a:pPr algn="l" marL="561728" indent="-280864" lvl="1">
              <a:lnSpc>
                <a:spcPts val="3642"/>
              </a:lnSpc>
              <a:spcBef>
                <a:spcPct val="0"/>
              </a:spcBef>
              <a:buFont typeface="Arial"/>
              <a:buChar char="•"/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better Sharpe Ratio</a:t>
            </a:r>
          </a:p>
          <a:p>
            <a:pPr algn="l" marL="561728" indent="-280864" lvl="1">
              <a:lnSpc>
                <a:spcPts val="3642"/>
              </a:lnSpc>
              <a:spcBef>
                <a:spcPct val="0"/>
              </a:spcBef>
              <a:buFont typeface="Arial"/>
              <a:buChar char="•"/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smaller major losses</a:t>
            </a:r>
          </a:p>
          <a:p>
            <a:pPr algn="l">
              <a:lnSpc>
                <a:spcPts val="3642"/>
              </a:lnSpc>
              <a:spcBef>
                <a:spcPct val="0"/>
              </a:spcBef>
            </a:pPr>
          </a:p>
          <a:p>
            <a:pPr algn="l">
              <a:lnSpc>
                <a:spcPts val="3642"/>
              </a:lnSpc>
              <a:spcBef>
                <a:spcPct val="0"/>
              </a:spcBef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Final Takeaway</a:t>
            </a:r>
          </a:p>
          <a:p>
            <a:pPr algn="l">
              <a:lnSpc>
                <a:spcPts val="3642"/>
              </a:lnSpc>
              <a:spcBef>
                <a:spcPct val="0"/>
              </a:spcBef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There is no single best strategy in every category.</a:t>
            </a:r>
          </a:p>
          <a:p>
            <a:pPr algn="l" marL="561728" indent="-280864" lvl="1">
              <a:lnSpc>
                <a:spcPts val="3642"/>
              </a:lnSpc>
              <a:spcBef>
                <a:spcPct val="0"/>
              </a:spcBef>
              <a:buFont typeface="Arial"/>
              <a:buChar char="•"/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Choose Buy and Hold if the priority is maximum profit</a:t>
            </a:r>
          </a:p>
          <a:p>
            <a:pPr algn="l" marL="561728" indent="-280864" lvl="1">
              <a:lnSpc>
                <a:spcPts val="3642"/>
              </a:lnSpc>
              <a:spcBef>
                <a:spcPct val="0"/>
              </a:spcBef>
              <a:buFont typeface="Arial"/>
              <a:buChar char="•"/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Choose Timing if the priority is lower risk and better risk-adjusted performance</a:t>
            </a:r>
          </a:p>
          <a:p>
            <a:pPr algn="l">
              <a:lnSpc>
                <a:spcPts val="3642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9056787" cy="74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4"/>
              </a:lnSpc>
            </a:pPr>
            <a:r>
              <a:rPr lang="en-US" sz="4353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Final Answer to the Main Problem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2748" y="7431928"/>
            <a:ext cx="7315200" cy="3857105"/>
          </a:xfrm>
          <a:custGeom>
            <a:avLst/>
            <a:gdLst/>
            <a:ahLst/>
            <a:cxnLst/>
            <a:rect r="r" b="b" t="t" l="l"/>
            <a:pathLst>
              <a:path h="3857105" w="7315200">
                <a:moveTo>
                  <a:pt x="7315200" y="0"/>
                </a:moveTo>
                <a:lnTo>
                  <a:pt x="0" y="0"/>
                </a:lnTo>
                <a:lnTo>
                  <a:pt x="0" y="3857105"/>
                </a:lnTo>
                <a:lnTo>
                  <a:pt x="7315200" y="3857105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95808" y="688069"/>
            <a:ext cx="6435338" cy="106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9"/>
              </a:lnSpc>
            </a:pPr>
            <a:r>
              <a:rPr lang="en-US" sz="8606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Ref</a:t>
            </a:r>
            <a:r>
              <a:rPr lang="en-US" sz="8606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5808" y="2269547"/>
            <a:ext cx="9963554" cy="638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Data Analytics / Visual Analytics tools: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 marL="522564" indent="-261282" lvl="1">
              <a:lnSpc>
                <a:spcPts val="3388"/>
              </a:lnSpc>
              <a:buFont typeface="Arial"/>
              <a:buChar char="•"/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Power BI: </a:t>
            </a:r>
            <a:r>
              <a:rPr lang="en-US" sz="2420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  <a:hlinkClick r:id="rId5" tooltip="https://learn.microsoft.com/en-us/power-bi/"/>
              </a:rPr>
              <a:t>https://learn.microsoft.com/en-us/power-bi/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388"/>
              </a:lnSpc>
            </a:pPr>
          </a:p>
          <a:p>
            <a:pPr algn="l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Data ret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rieval and cleaning: </a:t>
            </a:r>
          </a:p>
          <a:p>
            <a:pPr algn="l" marL="522564" indent="-261282" lvl="1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Python: </a:t>
            </a:r>
            <a:r>
              <a:rPr lang="en-US" sz="2420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https://docs.python.org/3/tutorial/index.html</a:t>
            </a:r>
          </a:p>
          <a:p>
            <a:pPr algn="l">
              <a:lnSpc>
                <a:spcPts val="3388"/>
              </a:lnSpc>
              <a:spcBef>
                <a:spcPct val="0"/>
              </a:spcBef>
            </a:pPr>
          </a:p>
          <a:p>
            <a:pPr algn="l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Datasets:</a:t>
            </a:r>
          </a:p>
          <a:p>
            <a:pPr algn="l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Yahoo Finance </a:t>
            </a:r>
          </a:p>
          <a:p>
            <a:pPr algn="l" marL="522564" indent="-261282" lvl="1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2420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  <a:hlinkClick r:id="rId6" tooltip="https://python-yahoofinance.readthedocs.io/en/latest/api.html"/>
              </a:rPr>
              <a:t>https://python-yahoofinance.readthedocs.io/en/latest/api.html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 marL="522564" indent="-261282" lvl="1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2420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  <a:hlinkClick r:id="rId7" tooltip="https://ranaroussi.github.io/yfinance/"/>
              </a:rPr>
              <a:t>https://ranaroussi.github.io/yfinance/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 marL="522564" indent="-261282" lvl="1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2420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  <a:hlinkClick r:id="rId8" tooltip="https://finance.yahoo.com"/>
              </a:rPr>
              <a:t>https://finance.yahoo.com/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</a:p>
          <a:p>
            <a:pPr algn="l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Github:</a:t>
            </a:r>
          </a:p>
          <a:p>
            <a:pPr algn="l" marL="522564" indent="-261282" lvl="1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https://github.com/AdaTaing/COMP3250-Project</a:t>
            </a:r>
          </a:p>
          <a:p>
            <a:pPr algn="ctr">
              <a:lnSpc>
                <a:spcPts val="33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8248" y="6934602"/>
            <a:ext cx="427047" cy="427047"/>
          </a:xfrm>
          <a:custGeom>
            <a:avLst/>
            <a:gdLst/>
            <a:ahLst/>
            <a:cxnLst/>
            <a:rect r="r" b="b" t="t" l="l"/>
            <a:pathLst>
              <a:path h="427047" w="427047">
                <a:moveTo>
                  <a:pt x="0" y="0"/>
                </a:moveTo>
                <a:lnTo>
                  <a:pt x="427047" y="0"/>
                </a:lnTo>
                <a:lnTo>
                  <a:pt x="427047" y="427047"/>
                </a:lnTo>
                <a:lnTo>
                  <a:pt x="0" y="427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3699" y="3186188"/>
            <a:ext cx="7089078" cy="353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6"/>
              </a:lnSpc>
            </a:pPr>
            <a:r>
              <a:rPr lang="en-US" b="true" sz="14973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Thank You.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43699" y="6953882"/>
            <a:ext cx="710269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Github: https://github.com/AdaTaing/COMP3250-Project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-2465233">
            <a:off x="6760362" y="-1816518"/>
            <a:ext cx="6837281" cy="4114800"/>
          </a:xfrm>
          <a:custGeom>
            <a:avLst/>
            <a:gdLst/>
            <a:ahLst/>
            <a:cxnLst/>
            <a:rect r="r" b="b" t="t" l="l"/>
            <a:pathLst>
              <a:path h="4114800" w="6837281">
                <a:moveTo>
                  <a:pt x="6837281" y="0"/>
                </a:moveTo>
                <a:lnTo>
                  <a:pt x="0" y="0"/>
                </a:lnTo>
                <a:lnTo>
                  <a:pt x="0" y="4114800"/>
                </a:lnTo>
                <a:lnTo>
                  <a:pt x="6837281" y="4114800"/>
                </a:lnTo>
                <a:lnTo>
                  <a:pt x="6837281" y="0"/>
                </a:lnTo>
                <a:close/>
              </a:path>
            </a:pathLst>
          </a:custGeom>
          <a:blipFill>
            <a:blip r:embed="rId5">
              <a:alphaModFix amt="1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DAHFY2DfYAE</dc:identifier>
  <dcterms:modified xsi:type="dcterms:W3CDTF">2011-08-01T06:04:30Z</dcterms:modified>
  <cp:revision>1</cp:revision>
  <dc:title>COMP 3250 FINAL PROJECT</dc:title>
</cp:coreProperties>
</file>