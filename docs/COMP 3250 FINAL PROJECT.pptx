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ter" charset="1" panose="020B0502030000000004"/>
      <p:regular r:id="rId16"/>
    </p:embeddedFont>
    <p:embeddedFont>
      <p:font typeface="Inter Bold" charset="1" panose="020B080203000000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https://learn.microsoft.com/en-us/power-bi/" TargetMode="External" Type="http://schemas.openxmlformats.org/officeDocument/2006/relationships/hyperlink"/><Relationship Id="rId6" Target="https://python-yahoofinance.readthedocs.io/en/latest/api.html" TargetMode="External" Type="http://schemas.openxmlformats.org/officeDocument/2006/relationships/hyperlink"/><Relationship Id="rId7" Target="https://ranaroussi.github.io/yfinance/" TargetMode="External" Type="http://schemas.openxmlformats.org/officeDocument/2006/relationships/hyperlink"/><Relationship Id="rId8" Target="https://finance.yahoo.com" TargetMode="External" Type="http://schemas.openxmlformats.org/officeDocument/2006/relationships/hyperlink"/><Relationship Id="rId9" Target="https://hive.com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5E5E5">
                <a:alpha val="100000"/>
              </a:srgbClr>
            </a:gs>
            <a:gs pos="100000">
              <a:srgbClr val="FFE9F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988962"/>
            <a:ext cx="8442802" cy="6309076"/>
          </a:xfrm>
          <a:custGeom>
            <a:avLst/>
            <a:gdLst/>
            <a:ahLst/>
            <a:cxnLst/>
            <a:rect r="r" b="b" t="t" l="l"/>
            <a:pathLst>
              <a:path h="6309076" w="8442802">
                <a:moveTo>
                  <a:pt x="0" y="0"/>
                </a:moveTo>
                <a:lnTo>
                  <a:pt x="8442802" y="0"/>
                </a:lnTo>
                <a:lnTo>
                  <a:pt x="8442802" y="6309076"/>
                </a:lnTo>
                <a:lnTo>
                  <a:pt x="0" y="6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6633119"/>
            <a:ext cx="4509493" cy="2385932"/>
          </a:xfrm>
          <a:custGeom>
            <a:avLst/>
            <a:gdLst/>
            <a:ahLst/>
            <a:cxnLst/>
            <a:rect r="r" b="b" t="t" l="l"/>
            <a:pathLst>
              <a:path h="2385932" w="4509493">
                <a:moveTo>
                  <a:pt x="0" y="0"/>
                </a:moveTo>
                <a:lnTo>
                  <a:pt x="4509493" y="0"/>
                </a:lnTo>
                <a:lnTo>
                  <a:pt x="4509493" y="2385932"/>
                </a:lnTo>
                <a:lnTo>
                  <a:pt x="0" y="23859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2266001"/>
            <a:ext cx="6837281" cy="4114800"/>
          </a:xfrm>
          <a:custGeom>
            <a:avLst/>
            <a:gdLst/>
            <a:ahLst/>
            <a:cxnLst/>
            <a:rect r="r" b="b" t="t" l="l"/>
            <a:pathLst>
              <a:path h="4114800" w="6837281">
                <a:moveTo>
                  <a:pt x="0" y="0"/>
                </a:moveTo>
                <a:lnTo>
                  <a:pt x="6837281" y="0"/>
                </a:lnTo>
                <a:lnTo>
                  <a:pt x="68372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8830844">
            <a:off x="12274702" y="-4015342"/>
            <a:ext cx="13085240" cy="10682314"/>
          </a:xfrm>
          <a:custGeom>
            <a:avLst/>
            <a:gdLst/>
            <a:ahLst/>
            <a:cxnLst/>
            <a:rect r="r" b="b" t="t" l="l"/>
            <a:pathLst>
              <a:path h="10682314" w="13085240">
                <a:moveTo>
                  <a:pt x="0" y="0"/>
                </a:moveTo>
                <a:lnTo>
                  <a:pt x="13085240" y="0"/>
                </a:lnTo>
                <a:lnTo>
                  <a:pt x="13085240" y="10682315"/>
                </a:lnTo>
                <a:lnTo>
                  <a:pt x="0" y="106823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42000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155137" y="1047988"/>
            <a:ext cx="1682238" cy="34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Page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07178" y="4513901"/>
            <a:ext cx="7089078" cy="312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0"/>
              </a:lnSpc>
            </a:pPr>
            <a:r>
              <a:rPr lang="en-US" sz="6775" b="true">
                <a:solidFill>
                  <a:srgbClr val="3232C4"/>
                </a:solidFill>
                <a:latin typeface="Inter Bold"/>
                <a:ea typeface="Inter Bold"/>
                <a:cs typeface="Inter Bold"/>
                <a:sym typeface="Inter Bold"/>
              </a:rPr>
              <a:t>Data Analysis on </a:t>
            </a:r>
            <a:r>
              <a:rPr lang="en-US" b="true" sz="6775">
                <a:solidFill>
                  <a:srgbClr val="3232C4"/>
                </a:solidFill>
                <a:latin typeface="Inter Bold"/>
                <a:ea typeface="Inter Bold"/>
                <a:cs typeface="Inter Bold"/>
                <a:sym typeface="Inter Bold"/>
              </a:rPr>
              <a:t>Market Timings vs Long-Term Investing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07178" y="3800859"/>
            <a:ext cx="3861643" cy="34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COMP 3250 PROJECT, GROUP 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5E5E5">
                <a:alpha val="100000"/>
              </a:srgbClr>
            </a:gs>
            <a:gs pos="100000">
              <a:srgbClr val="FFE9F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30844">
            <a:off x="12274702" y="-4015342"/>
            <a:ext cx="13085240" cy="10682314"/>
          </a:xfrm>
          <a:custGeom>
            <a:avLst/>
            <a:gdLst/>
            <a:ahLst/>
            <a:cxnLst/>
            <a:rect r="r" b="b" t="t" l="l"/>
            <a:pathLst>
              <a:path h="10682314" w="13085240">
                <a:moveTo>
                  <a:pt x="0" y="0"/>
                </a:moveTo>
                <a:lnTo>
                  <a:pt x="13085240" y="0"/>
                </a:lnTo>
                <a:lnTo>
                  <a:pt x="13085240" y="10682315"/>
                </a:lnTo>
                <a:lnTo>
                  <a:pt x="0" y="10682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9826" y="3831397"/>
            <a:ext cx="5223424" cy="2843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4"/>
              </a:lnSpc>
            </a:pPr>
            <a:r>
              <a:rPr lang="en-US" b="true" sz="8106">
                <a:solidFill>
                  <a:srgbClr val="3232C4"/>
                </a:solidFill>
                <a:latin typeface="Inter Bold"/>
                <a:ea typeface="Inter Bold"/>
                <a:cs typeface="Inter Bold"/>
                <a:sym typeface="Inter Bold"/>
              </a:rPr>
              <a:t>Team </a:t>
            </a:r>
            <a:r>
              <a:rPr lang="en-US" b="true" sz="8106">
                <a:solidFill>
                  <a:srgbClr val="3232C4"/>
                </a:solidFill>
                <a:latin typeface="Inter Bold"/>
                <a:ea typeface="Inter Bold"/>
                <a:cs typeface="Inter Bold"/>
                <a:sym typeface="Inter Bold"/>
              </a:rPr>
              <a:t>Members &amp; Roles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42820" y="1729806"/>
            <a:ext cx="8969470" cy="6398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17"/>
              </a:lnSpc>
            </a:pPr>
            <a:r>
              <a:rPr lang="en-US" sz="2155" u="sng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Ada Taing - Business/Data Analyst​</a:t>
            </a:r>
          </a:p>
          <a:p>
            <a:pPr algn="just">
              <a:lnSpc>
                <a:spcPts val="3017"/>
              </a:lnSpc>
            </a:pPr>
            <a:r>
              <a:rPr lang="en-US" sz="21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Defined investment problem, selected evaluation metrics, interpreted simulation results, and ensured alignment with casual investor needs. ​</a:t>
            </a:r>
          </a:p>
          <a:p>
            <a:pPr algn="just">
              <a:lnSpc>
                <a:spcPts val="3017"/>
              </a:lnSpc>
            </a:pPr>
            <a:r>
              <a:rPr lang="en-US" sz="2155" u="sng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Adedeji Adeboyejo - Data Engineer ​</a:t>
            </a:r>
          </a:p>
          <a:p>
            <a:pPr algn="just">
              <a:lnSpc>
                <a:spcPts val="3017"/>
              </a:lnSpc>
            </a:pPr>
            <a:r>
              <a:rPr lang="en-US" sz="21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Retrieved ETF data via Yahoo Finance API, cleaned and prepared datasets, calculated indicators, and simulated all six investment strategies. ​</a:t>
            </a:r>
          </a:p>
          <a:p>
            <a:pPr algn="just">
              <a:lnSpc>
                <a:spcPts val="3017"/>
              </a:lnSpc>
            </a:pPr>
            <a:r>
              <a:rPr lang="en-US" sz="21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​</a:t>
            </a:r>
          </a:p>
          <a:p>
            <a:pPr algn="just">
              <a:lnSpc>
                <a:spcPts val="3017"/>
              </a:lnSpc>
            </a:pPr>
            <a:r>
              <a:rPr lang="en-US" sz="2155" u="sng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Aidan Zhu - Visualization Developer </a:t>
            </a:r>
            <a:r>
              <a:rPr lang="en-US" sz="21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​</a:t>
            </a:r>
          </a:p>
          <a:p>
            <a:pPr algn="just">
              <a:lnSpc>
                <a:spcPts val="3017"/>
              </a:lnSpc>
            </a:pPr>
            <a:r>
              <a:rPr lang="en-US" sz="21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Designed and implemented the interactive Power BI dashboard, ensuring accessibility and clarity for a non-expert audience. ​</a:t>
            </a:r>
          </a:p>
          <a:p>
            <a:pPr algn="just">
              <a:lnSpc>
                <a:spcPts val="3017"/>
              </a:lnSpc>
            </a:pPr>
            <a:r>
              <a:rPr lang="en-US" sz="21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​</a:t>
            </a:r>
          </a:p>
          <a:p>
            <a:pPr algn="just">
              <a:lnSpc>
                <a:spcPts val="3017"/>
              </a:lnSpc>
            </a:pPr>
            <a:r>
              <a:rPr lang="en-US" sz="2155" u="sng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Mani Manav - Documentation Lead ​</a:t>
            </a:r>
          </a:p>
          <a:p>
            <a:pPr algn="just">
              <a:lnSpc>
                <a:spcPts val="3017"/>
              </a:lnSpc>
            </a:pPr>
            <a:r>
              <a:rPr lang="en-US" sz="21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Maintained project documentation and prepared the final written report and video presentation. </a:t>
            </a:r>
          </a:p>
          <a:p>
            <a:pPr algn="just">
              <a:lnSpc>
                <a:spcPts val="2457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129733" y="1777431"/>
            <a:ext cx="2303609" cy="1650222"/>
          </a:xfrm>
          <a:custGeom>
            <a:avLst/>
            <a:gdLst/>
            <a:ahLst/>
            <a:cxnLst/>
            <a:rect r="r" b="b" t="t" l="l"/>
            <a:pathLst>
              <a:path h="1650222" w="2303609">
                <a:moveTo>
                  <a:pt x="0" y="0"/>
                </a:moveTo>
                <a:lnTo>
                  <a:pt x="2303609" y="0"/>
                </a:lnTo>
                <a:lnTo>
                  <a:pt x="2303609" y="1650222"/>
                </a:lnTo>
                <a:lnTo>
                  <a:pt x="0" y="16502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155137" y="1047988"/>
            <a:ext cx="1682238" cy="34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Page 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5E5E5">
                <a:alpha val="100000"/>
              </a:srgbClr>
            </a:gs>
            <a:gs pos="100000">
              <a:srgbClr val="FFE9F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30844">
            <a:off x="12274702" y="-4015342"/>
            <a:ext cx="13085240" cy="10682314"/>
          </a:xfrm>
          <a:custGeom>
            <a:avLst/>
            <a:gdLst/>
            <a:ahLst/>
            <a:cxnLst/>
            <a:rect r="r" b="b" t="t" l="l"/>
            <a:pathLst>
              <a:path h="10682314" w="13085240">
                <a:moveTo>
                  <a:pt x="0" y="0"/>
                </a:moveTo>
                <a:lnTo>
                  <a:pt x="13085240" y="0"/>
                </a:lnTo>
                <a:lnTo>
                  <a:pt x="13085240" y="10682315"/>
                </a:lnTo>
                <a:lnTo>
                  <a:pt x="0" y="10682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797825" y="7937357"/>
            <a:ext cx="6837281" cy="4114800"/>
          </a:xfrm>
          <a:custGeom>
            <a:avLst/>
            <a:gdLst/>
            <a:ahLst/>
            <a:cxnLst/>
            <a:rect r="r" b="b" t="t" l="l"/>
            <a:pathLst>
              <a:path h="4114800" w="6837281">
                <a:moveTo>
                  <a:pt x="6837281" y="0"/>
                </a:moveTo>
                <a:lnTo>
                  <a:pt x="0" y="0"/>
                </a:lnTo>
                <a:lnTo>
                  <a:pt x="0" y="4114800"/>
                </a:lnTo>
                <a:lnTo>
                  <a:pt x="6837281" y="4114800"/>
                </a:lnTo>
                <a:lnTo>
                  <a:pt x="6837281" y="0"/>
                </a:lnTo>
                <a:close/>
              </a:path>
            </a:pathLst>
          </a:custGeom>
          <a:blipFill>
            <a:blip r:embed="rId3">
              <a:alphaModFix amt="1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174390" y="852468"/>
            <a:ext cx="8166929" cy="1017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4"/>
              </a:lnSpc>
            </a:pPr>
            <a:r>
              <a:rPr lang="en-US" sz="8263" b="true">
                <a:solidFill>
                  <a:srgbClr val="3232C4"/>
                </a:solidFill>
                <a:latin typeface="Inter Bold"/>
                <a:ea typeface="Inter Bold"/>
                <a:cs typeface="Inter Bold"/>
                <a:sym typeface="Inter Bold"/>
              </a:rPr>
              <a:t>Problem Scope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155137" y="1047988"/>
            <a:ext cx="1682238" cy="34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Page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8051" y="2897125"/>
            <a:ext cx="7903668" cy="636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84"/>
              </a:lnSpc>
            </a:pPr>
            <a:r>
              <a:rPr lang="en-US" sz="1774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Problem: ​</a:t>
            </a:r>
          </a:p>
          <a:p>
            <a:pPr algn="just">
              <a:lnSpc>
                <a:spcPts val="2484"/>
              </a:lnSpc>
            </a:pPr>
            <a:r>
              <a:rPr lang="en-US" sz="1774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Many casual investors want to grow their money, but it is not always clear whether they are better off using a market timing strategy or a long-term buy-and-hold strategy.</a:t>
            </a:r>
          </a:p>
          <a:p>
            <a:pPr algn="just">
              <a:lnSpc>
                <a:spcPts val="2484"/>
              </a:lnSpc>
            </a:pPr>
          </a:p>
          <a:p>
            <a:pPr algn="just">
              <a:lnSpc>
                <a:spcPts val="2484"/>
              </a:lnSpc>
            </a:pPr>
            <a:r>
              <a:rPr lang="en-US" sz="1774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Main Problem: </a:t>
            </a:r>
          </a:p>
          <a:p>
            <a:pPr algn="just">
              <a:lnSpc>
                <a:spcPts val="2484"/>
              </a:lnSpc>
            </a:pPr>
            <a:r>
              <a:rPr lang="en-US" sz="1774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When it comes to investing to make a profit, are casual investors better off with market timing or long-term investing?</a:t>
            </a:r>
          </a:p>
          <a:p>
            <a:pPr algn="just">
              <a:lnSpc>
                <a:spcPts val="2484"/>
              </a:lnSpc>
            </a:pPr>
          </a:p>
          <a:p>
            <a:pPr algn="just">
              <a:lnSpc>
                <a:spcPts val="2484"/>
              </a:lnSpc>
            </a:pPr>
            <a:r>
              <a:rPr lang="en-US" sz="1774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Goal: ​</a:t>
            </a:r>
          </a:p>
          <a:p>
            <a:pPr algn="just">
              <a:lnSpc>
                <a:spcPts val="2484"/>
              </a:lnSpc>
            </a:pPr>
            <a:r>
              <a:rPr lang="en-US" sz="1774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The goal of this project was to compare these two strategies using performance and risk metrics, then present the results in an interactive dashboard.</a:t>
            </a:r>
          </a:p>
          <a:p>
            <a:pPr algn="just">
              <a:lnSpc>
                <a:spcPts val="2484"/>
              </a:lnSpc>
            </a:pPr>
          </a:p>
          <a:p>
            <a:pPr algn="just">
              <a:lnSpc>
                <a:spcPts val="2484"/>
              </a:lnSpc>
            </a:pPr>
            <a:r>
              <a:rPr lang="en-US" sz="1774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Target users: </a:t>
            </a:r>
          </a:p>
          <a:p>
            <a:pPr algn="just" marL="383221" indent="-191611" lvl="1">
              <a:lnSpc>
                <a:spcPts val="2484"/>
              </a:lnSpc>
              <a:buFont typeface="Arial"/>
              <a:buChar char="•"/>
            </a:pPr>
            <a:r>
              <a:rPr lang="en-US" sz="1774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Casual investors</a:t>
            </a:r>
          </a:p>
          <a:p>
            <a:pPr algn="just" marL="383221" indent="-191611" lvl="1">
              <a:lnSpc>
                <a:spcPts val="2484"/>
              </a:lnSpc>
              <a:buFont typeface="Arial"/>
              <a:buChar char="•"/>
            </a:pPr>
            <a:r>
              <a:rPr lang="en-US" sz="1774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Students learning investment analytics</a:t>
            </a:r>
          </a:p>
          <a:p>
            <a:pPr algn="just" marL="383221" indent="-191611" lvl="1">
              <a:lnSpc>
                <a:spcPts val="2484"/>
              </a:lnSpc>
              <a:buFont typeface="Arial"/>
              <a:buChar char="•"/>
            </a:pPr>
            <a:r>
              <a:rPr lang="en-US" sz="1774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Users interested in comparing investment strategies visually</a:t>
            </a:r>
          </a:p>
          <a:p>
            <a:pPr algn="just">
              <a:lnSpc>
                <a:spcPts val="1883"/>
              </a:lnSpc>
            </a:pPr>
          </a:p>
          <a:p>
            <a:pPr algn="just">
              <a:lnSpc>
                <a:spcPts val="1883"/>
              </a:lnSpc>
            </a:pPr>
          </a:p>
          <a:p>
            <a:pPr algn="just">
              <a:lnSpc>
                <a:spcPts val="1883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180604" y="2527326"/>
            <a:ext cx="7078696" cy="746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3"/>
              </a:lnSpc>
            </a:pPr>
            <a:r>
              <a:rPr lang="en-US" sz="148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The scope of this project is bounded by the following parameters: </a:t>
            </a:r>
          </a:p>
          <a:p>
            <a:pPr algn="l">
              <a:lnSpc>
                <a:spcPts val="2073"/>
              </a:lnSpc>
            </a:pPr>
          </a:p>
          <a:p>
            <a:pPr algn="l">
              <a:lnSpc>
                <a:spcPts val="2073"/>
              </a:lnSpc>
            </a:pPr>
            <a:r>
              <a:rPr lang="en-US" sz="148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Three ETFs analyzed: </a:t>
            </a:r>
          </a:p>
          <a:p>
            <a:pPr algn="l">
              <a:lnSpc>
                <a:spcPts val="2073"/>
              </a:lnSpc>
              <a:spcBef>
                <a:spcPct val="0"/>
              </a:spcBef>
            </a:pPr>
            <a:r>
              <a:rPr lang="en-US" sz="148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- SP</a:t>
            </a:r>
            <a:r>
              <a:rPr lang="en-US" sz="148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Y:</a:t>
            </a:r>
          </a:p>
          <a:p>
            <a:pPr algn="l">
              <a:lnSpc>
                <a:spcPts val="2073"/>
              </a:lnSpc>
              <a:spcBef>
                <a:spcPct val="0"/>
              </a:spcBef>
            </a:pPr>
            <a:r>
              <a:rPr lang="en-US" sz="148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- QQQ</a:t>
            </a:r>
          </a:p>
          <a:p>
            <a:pPr algn="l">
              <a:lnSpc>
                <a:spcPts val="2073"/>
              </a:lnSpc>
              <a:spcBef>
                <a:spcPct val="0"/>
              </a:spcBef>
            </a:pPr>
            <a:r>
              <a:rPr lang="en-US" sz="148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- VTI</a:t>
            </a:r>
          </a:p>
          <a:p>
            <a:pPr algn="l">
              <a:lnSpc>
                <a:spcPts val="2073"/>
              </a:lnSpc>
              <a:spcBef>
                <a:spcPct val="0"/>
              </a:spcBef>
            </a:pPr>
            <a:r>
              <a:rPr lang="en-US" sz="148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l">
              <a:lnSpc>
                <a:spcPts val="2073"/>
              </a:lnSpc>
              <a:spcBef>
                <a:spcPct val="0"/>
              </a:spcBef>
            </a:pPr>
            <a:r>
              <a:rPr lang="en-US" sz="148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Historical data spanning 20+ years retrieved from Yahoo Finance  </a:t>
            </a:r>
          </a:p>
          <a:p>
            <a:pPr algn="l">
              <a:lnSpc>
                <a:spcPts val="2073"/>
              </a:lnSpc>
              <a:spcBef>
                <a:spcPct val="0"/>
              </a:spcBef>
            </a:pPr>
          </a:p>
          <a:p>
            <a:pPr algn="l">
              <a:lnSpc>
                <a:spcPts val="2073"/>
              </a:lnSpc>
              <a:spcBef>
                <a:spcPct val="0"/>
              </a:spcBef>
            </a:pPr>
            <a:r>
              <a:rPr lang="en-US" sz="148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Two strategies: Buy &amp; Hold and Market Timing using a 50-day Moving Average signal (a technical indicator that shows the average price of a stock over the last 50 trading days). </a:t>
            </a:r>
          </a:p>
          <a:p>
            <a:pPr algn="l">
              <a:lnSpc>
                <a:spcPts val="2073"/>
              </a:lnSpc>
              <a:spcBef>
                <a:spcPct val="0"/>
              </a:spcBef>
            </a:pPr>
          </a:p>
          <a:p>
            <a:pPr algn="l">
              <a:lnSpc>
                <a:spcPts val="2073"/>
              </a:lnSpc>
              <a:spcBef>
                <a:spcPct val="0"/>
              </a:spcBef>
            </a:pPr>
            <a:r>
              <a:rPr lang="en-US" sz="148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Six portfolio simulations:  </a:t>
            </a:r>
          </a:p>
          <a:p>
            <a:pPr algn="l" marL="319719" indent="-159860" lvl="1">
              <a:lnSpc>
                <a:spcPts val="2073"/>
              </a:lnSpc>
              <a:spcBef>
                <a:spcPct val="0"/>
              </a:spcBef>
              <a:buFont typeface="Arial"/>
              <a:buChar char="•"/>
            </a:pPr>
            <a:r>
              <a:rPr lang="en-US" sz="148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Buy &amp; Hold Strategy using just SPY ETF,  </a:t>
            </a:r>
          </a:p>
          <a:p>
            <a:pPr algn="l" marL="319719" indent="-159860" lvl="1">
              <a:lnSpc>
                <a:spcPts val="2073"/>
              </a:lnSpc>
              <a:spcBef>
                <a:spcPct val="0"/>
              </a:spcBef>
              <a:buFont typeface="Arial"/>
              <a:buChar char="•"/>
            </a:pPr>
            <a:r>
              <a:rPr lang="en-US" sz="148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Market Timing Strategy using just SPY ETF, </a:t>
            </a:r>
          </a:p>
          <a:p>
            <a:pPr algn="l" marL="319719" indent="-159860" lvl="1">
              <a:lnSpc>
                <a:spcPts val="2073"/>
              </a:lnSpc>
              <a:spcBef>
                <a:spcPct val="0"/>
              </a:spcBef>
              <a:buFont typeface="Arial"/>
              <a:buChar char="•"/>
            </a:pPr>
            <a:r>
              <a:rPr lang="en-US" sz="148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Buy &amp; Hold Strategy using equal investments into each ETF,  </a:t>
            </a:r>
          </a:p>
          <a:p>
            <a:pPr algn="l" marL="319719" indent="-159860" lvl="1">
              <a:lnSpc>
                <a:spcPts val="2073"/>
              </a:lnSpc>
              <a:spcBef>
                <a:spcPct val="0"/>
              </a:spcBef>
              <a:buFont typeface="Arial"/>
              <a:buChar char="•"/>
            </a:pPr>
            <a:r>
              <a:rPr lang="en-US" sz="148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Market Timing Strategy using equal investments into each ETF, </a:t>
            </a:r>
          </a:p>
          <a:p>
            <a:pPr algn="l" marL="319719" indent="-159860" lvl="1">
              <a:lnSpc>
                <a:spcPts val="2073"/>
              </a:lnSpc>
              <a:spcBef>
                <a:spcPct val="0"/>
              </a:spcBef>
              <a:buFont typeface="Arial"/>
              <a:buChar char="•"/>
            </a:pPr>
            <a:r>
              <a:rPr lang="en-US" sz="148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Buy &amp; Hold Strategy using a custom investment strategy, </a:t>
            </a:r>
          </a:p>
          <a:p>
            <a:pPr algn="l" marL="319719" indent="-159860" lvl="1">
              <a:lnSpc>
                <a:spcPts val="2073"/>
              </a:lnSpc>
              <a:spcBef>
                <a:spcPct val="0"/>
              </a:spcBef>
              <a:buFont typeface="Arial"/>
              <a:buChar char="•"/>
            </a:pPr>
            <a:r>
              <a:rPr lang="en-US" sz="148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Market Timing Strategy using a custom investment strategy. </a:t>
            </a:r>
          </a:p>
          <a:p>
            <a:pPr algn="l">
              <a:lnSpc>
                <a:spcPts val="2073"/>
              </a:lnSpc>
              <a:spcBef>
                <a:spcPct val="0"/>
              </a:spcBef>
            </a:pPr>
          </a:p>
          <a:p>
            <a:pPr algn="l">
              <a:lnSpc>
                <a:spcPts val="2073"/>
              </a:lnSpc>
              <a:spcBef>
                <a:spcPct val="0"/>
              </a:spcBef>
            </a:pPr>
            <a:r>
              <a:rPr lang="en-US" sz="148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Initial investment of $10,000 with biweekly contributions of $500 </a:t>
            </a:r>
          </a:p>
          <a:p>
            <a:pPr algn="l">
              <a:lnSpc>
                <a:spcPts val="2073"/>
              </a:lnSpc>
              <a:spcBef>
                <a:spcPct val="0"/>
              </a:spcBef>
            </a:pPr>
          </a:p>
          <a:p>
            <a:pPr algn="l">
              <a:lnSpc>
                <a:spcPts val="2073"/>
              </a:lnSpc>
              <a:spcBef>
                <a:spcPct val="0"/>
              </a:spcBef>
            </a:pPr>
            <a:r>
              <a:rPr lang="en-US" sz="148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Performance metrics:  </a:t>
            </a:r>
          </a:p>
          <a:p>
            <a:pPr algn="l" marL="319719" indent="-159860" lvl="1">
              <a:lnSpc>
                <a:spcPts val="2073"/>
              </a:lnSpc>
              <a:spcBef>
                <a:spcPct val="0"/>
              </a:spcBef>
              <a:buAutoNum type="arabicPeriod" startAt="1"/>
            </a:pPr>
            <a:r>
              <a:rPr lang="en-US" sz="148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CAGR </a:t>
            </a:r>
          </a:p>
          <a:p>
            <a:pPr algn="l" marL="319719" indent="-159860" lvl="1">
              <a:lnSpc>
                <a:spcPts val="2073"/>
              </a:lnSpc>
              <a:spcBef>
                <a:spcPct val="0"/>
              </a:spcBef>
              <a:buAutoNum type="arabicPeriod" startAt="1"/>
            </a:pPr>
            <a:r>
              <a:rPr lang="en-US" sz="148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Sharpe Ratio </a:t>
            </a:r>
          </a:p>
          <a:p>
            <a:pPr algn="l" marL="319719" indent="-159860" lvl="1">
              <a:lnSpc>
                <a:spcPts val="2073"/>
              </a:lnSpc>
              <a:spcBef>
                <a:spcPct val="0"/>
              </a:spcBef>
              <a:buAutoNum type="arabicPeriod" startAt="1"/>
            </a:pPr>
            <a:r>
              <a:rPr lang="en-US" sz="148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Volatility</a:t>
            </a:r>
          </a:p>
          <a:p>
            <a:pPr algn="l" marL="319719" indent="-159860" lvl="1">
              <a:lnSpc>
                <a:spcPts val="2073"/>
              </a:lnSpc>
              <a:spcBef>
                <a:spcPct val="0"/>
              </a:spcBef>
              <a:buAutoNum type="arabicPeriod" startAt="1"/>
            </a:pPr>
            <a:r>
              <a:rPr lang="en-US" sz="148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Maximum Drawdown</a:t>
            </a:r>
          </a:p>
          <a:p>
            <a:pPr algn="l" marL="319719" indent="-159860" lvl="1">
              <a:lnSpc>
                <a:spcPts val="2073"/>
              </a:lnSpc>
              <a:spcBef>
                <a:spcPct val="0"/>
              </a:spcBef>
              <a:buAutoNum type="arabicPeriod" startAt="1"/>
            </a:pPr>
            <a:r>
              <a:rPr lang="en-US" sz="148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Total Profit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5E5E5">
                <a:alpha val="100000"/>
              </a:srgbClr>
            </a:gs>
            <a:gs pos="100000">
              <a:srgbClr val="FFE9F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30844">
            <a:off x="12274702" y="-4015342"/>
            <a:ext cx="13085240" cy="10682314"/>
          </a:xfrm>
          <a:custGeom>
            <a:avLst/>
            <a:gdLst/>
            <a:ahLst/>
            <a:cxnLst/>
            <a:rect r="r" b="b" t="t" l="l"/>
            <a:pathLst>
              <a:path h="10682314" w="13085240">
                <a:moveTo>
                  <a:pt x="0" y="0"/>
                </a:moveTo>
                <a:lnTo>
                  <a:pt x="13085240" y="0"/>
                </a:lnTo>
                <a:lnTo>
                  <a:pt x="13085240" y="10682315"/>
                </a:lnTo>
                <a:lnTo>
                  <a:pt x="0" y="10682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60057" y="3036552"/>
            <a:ext cx="4246353" cy="4906501"/>
          </a:xfrm>
          <a:custGeom>
            <a:avLst/>
            <a:gdLst/>
            <a:ahLst/>
            <a:cxnLst/>
            <a:rect r="r" b="b" t="t" l="l"/>
            <a:pathLst>
              <a:path h="4906501" w="4246353">
                <a:moveTo>
                  <a:pt x="0" y="0"/>
                </a:moveTo>
                <a:lnTo>
                  <a:pt x="4246353" y="0"/>
                </a:lnTo>
                <a:lnTo>
                  <a:pt x="4246353" y="4906500"/>
                </a:lnTo>
                <a:lnTo>
                  <a:pt x="0" y="4906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527765" y="1658583"/>
            <a:ext cx="2592115" cy="2592115"/>
          </a:xfrm>
          <a:custGeom>
            <a:avLst/>
            <a:gdLst/>
            <a:ahLst/>
            <a:cxnLst/>
            <a:rect r="r" b="b" t="t" l="l"/>
            <a:pathLst>
              <a:path h="2592115" w="2592115">
                <a:moveTo>
                  <a:pt x="0" y="0"/>
                </a:moveTo>
                <a:lnTo>
                  <a:pt x="2592115" y="0"/>
                </a:lnTo>
                <a:lnTo>
                  <a:pt x="2592115" y="2592115"/>
                </a:lnTo>
                <a:lnTo>
                  <a:pt x="0" y="25921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155137" y="1047988"/>
            <a:ext cx="1682238" cy="34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Page 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3642" y="1915758"/>
            <a:ext cx="9352416" cy="1107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15"/>
              </a:lnSpc>
            </a:pPr>
            <a:r>
              <a:rPr lang="en-US" sz="9006" b="true">
                <a:solidFill>
                  <a:srgbClr val="3232C4"/>
                </a:solidFill>
                <a:latin typeface="Inter Bold"/>
                <a:ea typeface="Inter Bold"/>
                <a:cs typeface="Inter Bold"/>
                <a:sym typeface="Inter Bold"/>
              </a:rPr>
              <a:t>Overall</a:t>
            </a:r>
            <a:r>
              <a:rPr lang="en-US" b="true" sz="9006">
                <a:solidFill>
                  <a:srgbClr val="3232C4"/>
                </a:solidFill>
                <a:latin typeface="Inter Bold"/>
                <a:ea typeface="Inter Bold"/>
                <a:cs typeface="Inter Bold"/>
                <a:sym typeface="Inter Bold"/>
              </a:rPr>
              <a:t> Solution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096999" y="6285452"/>
            <a:ext cx="2592115" cy="2592115"/>
          </a:xfrm>
          <a:custGeom>
            <a:avLst/>
            <a:gdLst/>
            <a:ahLst/>
            <a:cxnLst/>
            <a:rect r="r" b="b" t="t" l="l"/>
            <a:pathLst>
              <a:path h="2592115" w="2592115">
                <a:moveTo>
                  <a:pt x="0" y="0"/>
                </a:moveTo>
                <a:lnTo>
                  <a:pt x="2592115" y="0"/>
                </a:lnTo>
                <a:lnTo>
                  <a:pt x="2592115" y="2592115"/>
                </a:lnTo>
                <a:lnTo>
                  <a:pt x="0" y="25921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53642" y="3617974"/>
            <a:ext cx="8772152" cy="639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58"/>
              </a:lnSpc>
              <a:spcBef>
                <a:spcPct val="0"/>
              </a:spcBef>
            </a:pPr>
            <a:r>
              <a:rPr lang="en-US" sz="1827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To answer the pr</a:t>
            </a:r>
            <a:r>
              <a:rPr lang="en-US" sz="1827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oject question, we developed a dashboard-based analytics solution that compares Buy and Hold and Timing strategies.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3642" y="4438308"/>
            <a:ext cx="7899127" cy="2055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Our s</a:t>
            </a: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olution included:</a:t>
            </a:r>
          </a:p>
          <a:p>
            <a:pPr algn="just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Rertrieving and preparing the investment data</a:t>
            </a:r>
          </a:p>
          <a:p>
            <a:pPr algn="just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comparing the strategies using financial performance measures</a:t>
            </a:r>
          </a:p>
          <a:p>
            <a:pPr algn="just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building an interactive dashboard in Power BI</a:t>
            </a:r>
          </a:p>
          <a:p>
            <a:pPr algn="just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using visuals and KPI summaries to support interpretation</a:t>
            </a:r>
          </a:p>
          <a:p>
            <a:pPr algn="just">
              <a:lnSpc>
                <a:spcPts val="2737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553642" y="6548658"/>
            <a:ext cx="11216878" cy="2741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Met</a:t>
            </a: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rics used in the comparison:</a:t>
            </a:r>
          </a:p>
          <a:p>
            <a:pPr algn="just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Final Value</a:t>
            </a:r>
          </a:p>
          <a:p>
            <a:pPr algn="just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Volatility</a:t>
            </a:r>
          </a:p>
          <a:p>
            <a:pPr algn="just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Sharpe Ratio</a:t>
            </a:r>
          </a:p>
          <a:p>
            <a:pPr algn="just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Maximum Drawdown</a:t>
            </a:r>
          </a:p>
          <a:p>
            <a:pPr algn="just">
              <a:lnSpc>
                <a:spcPts val="2737"/>
              </a:lnSpc>
              <a:spcBef>
                <a:spcPct val="0"/>
              </a:spcBef>
            </a:pPr>
          </a:p>
          <a:p>
            <a:pPr algn="just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This allowed us to evaluate both profitability and risk rather than focusing on only one measure.</a:t>
            </a:r>
          </a:p>
          <a:p>
            <a:pPr algn="just">
              <a:lnSpc>
                <a:spcPts val="273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5E5E5">
                <a:alpha val="100000"/>
              </a:srgbClr>
            </a:gs>
            <a:gs pos="100000">
              <a:srgbClr val="FFE9F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30844">
            <a:off x="12274702" y="-4015342"/>
            <a:ext cx="13085240" cy="10682314"/>
          </a:xfrm>
          <a:custGeom>
            <a:avLst/>
            <a:gdLst/>
            <a:ahLst/>
            <a:cxnLst/>
            <a:rect r="r" b="b" t="t" l="l"/>
            <a:pathLst>
              <a:path h="10682314" w="13085240">
                <a:moveTo>
                  <a:pt x="0" y="0"/>
                </a:moveTo>
                <a:lnTo>
                  <a:pt x="13085240" y="0"/>
                </a:lnTo>
                <a:lnTo>
                  <a:pt x="13085240" y="10682315"/>
                </a:lnTo>
                <a:lnTo>
                  <a:pt x="0" y="10682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93691" y="784583"/>
            <a:ext cx="8700618" cy="812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6606" b="true">
                <a:solidFill>
                  <a:srgbClr val="3232C4"/>
                </a:solidFill>
                <a:latin typeface="Inter Bold"/>
                <a:ea typeface="Inter Bold"/>
                <a:cs typeface="Inter Bold"/>
                <a:sym typeface="Inter Bold"/>
              </a:rPr>
              <a:t>Dashboard 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155137" y="1047988"/>
            <a:ext cx="1682238" cy="34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Page 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0816" y="2913861"/>
            <a:ext cx="9231108" cy="5827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Our dashboard was designed t</a:t>
            </a: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o help users compare the two strategies clearly and interactively.</a:t>
            </a:r>
          </a:p>
          <a:p>
            <a:pPr algn="l">
              <a:lnSpc>
                <a:spcPts val="2737"/>
              </a:lnSpc>
              <a:spcBef>
                <a:spcPct val="0"/>
              </a:spcBef>
            </a:pPr>
          </a:p>
          <a:p>
            <a:pPr algn="l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Main dashboard features:</a:t>
            </a:r>
          </a:p>
          <a:p>
            <a:pPr algn="l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visual comparison of strategy performance</a:t>
            </a:r>
          </a:p>
          <a:p>
            <a:pPr algn="l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KPI cards for key financial metrics</a:t>
            </a:r>
          </a:p>
          <a:p>
            <a:pPr algn="l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charts showing strategy outcomes</a:t>
            </a:r>
          </a:p>
          <a:p>
            <a:pPr algn="l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filters/slicers for easier analysis</a:t>
            </a:r>
          </a:p>
          <a:p>
            <a:pPr algn="l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multiple pages for different views of the results</a:t>
            </a:r>
          </a:p>
          <a:p>
            <a:pPr algn="l">
              <a:lnSpc>
                <a:spcPts val="2737"/>
              </a:lnSpc>
              <a:spcBef>
                <a:spcPct val="0"/>
              </a:spcBef>
            </a:pPr>
          </a:p>
          <a:p>
            <a:pPr algn="l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Dashboard Purpose</a:t>
            </a:r>
          </a:p>
          <a:p>
            <a:pPr algn="l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 The dashboard helps users quickly identify:</a:t>
            </a:r>
          </a:p>
          <a:p>
            <a:pPr algn="l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which strategy made the most money</a:t>
            </a:r>
          </a:p>
          <a:p>
            <a:pPr algn="l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which strategy had the least risk</a:t>
            </a:r>
          </a:p>
          <a:p>
            <a:pPr algn="l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which strategy was most efficient relative to risk</a:t>
            </a:r>
          </a:p>
          <a:p>
            <a:pPr algn="l" marL="422124" indent="-211062" lvl="1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how severe losses could become</a:t>
            </a:r>
          </a:p>
          <a:p>
            <a:pPr algn="l">
              <a:lnSpc>
                <a:spcPts val="2737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809023" y="2961486"/>
            <a:ext cx="8315451" cy="6237348"/>
          </a:xfrm>
          <a:custGeom>
            <a:avLst/>
            <a:gdLst/>
            <a:ahLst/>
            <a:cxnLst/>
            <a:rect r="r" b="b" t="t" l="l"/>
            <a:pathLst>
              <a:path h="6237348" w="8315451">
                <a:moveTo>
                  <a:pt x="0" y="0"/>
                </a:moveTo>
                <a:lnTo>
                  <a:pt x="8315451" y="0"/>
                </a:lnTo>
                <a:lnTo>
                  <a:pt x="8315451" y="6237348"/>
                </a:lnTo>
                <a:lnTo>
                  <a:pt x="0" y="6237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682" b="-1728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5E5E5">
                <a:alpha val="100000"/>
              </a:srgbClr>
            </a:gs>
            <a:gs pos="100000">
              <a:srgbClr val="FFE9F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30844">
            <a:off x="12274702" y="-4015342"/>
            <a:ext cx="13085240" cy="10682314"/>
          </a:xfrm>
          <a:custGeom>
            <a:avLst/>
            <a:gdLst/>
            <a:ahLst/>
            <a:cxnLst/>
            <a:rect r="r" b="b" t="t" l="l"/>
            <a:pathLst>
              <a:path h="10682314" w="13085240">
                <a:moveTo>
                  <a:pt x="0" y="0"/>
                </a:moveTo>
                <a:lnTo>
                  <a:pt x="13085240" y="0"/>
                </a:lnTo>
                <a:lnTo>
                  <a:pt x="13085240" y="10682315"/>
                </a:lnTo>
                <a:lnTo>
                  <a:pt x="0" y="10682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74126" y="2421039"/>
            <a:ext cx="8569874" cy="6170309"/>
          </a:xfrm>
          <a:custGeom>
            <a:avLst/>
            <a:gdLst/>
            <a:ahLst/>
            <a:cxnLst/>
            <a:rect r="r" b="b" t="t" l="l"/>
            <a:pathLst>
              <a:path h="6170309" w="8569874">
                <a:moveTo>
                  <a:pt x="0" y="0"/>
                </a:moveTo>
                <a:lnTo>
                  <a:pt x="8569874" y="0"/>
                </a:lnTo>
                <a:lnTo>
                  <a:pt x="8569874" y="6170309"/>
                </a:lnTo>
                <a:lnTo>
                  <a:pt x="0" y="61703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58720" y="2197199"/>
            <a:ext cx="7650854" cy="6617989"/>
          </a:xfrm>
          <a:custGeom>
            <a:avLst/>
            <a:gdLst/>
            <a:ahLst/>
            <a:cxnLst/>
            <a:rect r="r" b="b" t="t" l="l"/>
            <a:pathLst>
              <a:path h="6617989" w="7650854">
                <a:moveTo>
                  <a:pt x="0" y="0"/>
                </a:moveTo>
                <a:lnTo>
                  <a:pt x="7650854" y="0"/>
                </a:lnTo>
                <a:lnTo>
                  <a:pt x="7650854" y="6617989"/>
                </a:lnTo>
                <a:lnTo>
                  <a:pt x="0" y="66179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88664" y="938648"/>
            <a:ext cx="7384323" cy="616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5006" b="true">
                <a:solidFill>
                  <a:srgbClr val="3232C4"/>
                </a:solidFill>
                <a:latin typeface="Inter Bold"/>
                <a:ea typeface="Inter Bold"/>
                <a:cs typeface="Inter Bold"/>
                <a:sym typeface="Inter Bold"/>
              </a:rPr>
              <a:t>​​Dashboard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418181" y="601528"/>
            <a:ext cx="1682238" cy="34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Page 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5E5E5">
                <a:alpha val="100000"/>
              </a:srgbClr>
            </a:gs>
            <a:gs pos="100000">
              <a:srgbClr val="FFE9F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30844">
            <a:off x="12274702" y="-4015342"/>
            <a:ext cx="13085240" cy="10682314"/>
          </a:xfrm>
          <a:custGeom>
            <a:avLst/>
            <a:gdLst/>
            <a:ahLst/>
            <a:cxnLst/>
            <a:rect r="r" b="b" t="t" l="l"/>
            <a:pathLst>
              <a:path h="10682314" w="13085240">
                <a:moveTo>
                  <a:pt x="0" y="0"/>
                </a:moveTo>
                <a:lnTo>
                  <a:pt x="13085240" y="0"/>
                </a:lnTo>
                <a:lnTo>
                  <a:pt x="13085240" y="10682315"/>
                </a:lnTo>
                <a:lnTo>
                  <a:pt x="0" y="10682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580339" y="0"/>
            <a:ext cx="6837281" cy="4114800"/>
          </a:xfrm>
          <a:custGeom>
            <a:avLst/>
            <a:gdLst/>
            <a:ahLst/>
            <a:cxnLst/>
            <a:rect r="r" b="b" t="t" l="l"/>
            <a:pathLst>
              <a:path h="4114800" w="6837281">
                <a:moveTo>
                  <a:pt x="0" y="0"/>
                </a:moveTo>
                <a:lnTo>
                  <a:pt x="6837281" y="0"/>
                </a:lnTo>
                <a:lnTo>
                  <a:pt x="68372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27441" y="1314688"/>
            <a:ext cx="7233119" cy="1014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4"/>
              </a:lnSpc>
            </a:pPr>
            <a:r>
              <a:rPr lang="en-US" sz="8106" b="true">
                <a:solidFill>
                  <a:srgbClr val="3232C4"/>
                </a:solidFill>
                <a:latin typeface="Inter Bold"/>
                <a:ea typeface="Inter Bold"/>
                <a:cs typeface="Inter Bold"/>
                <a:sym typeface="Inter Bold"/>
              </a:rPr>
              <a:t>K</a:t>
            </a:r>
            <a:r>
              <a:rPr lang="en-US" b="true" sz="8106">
                <a:solidFill>
                  <a:srgbClr val="3232C4"/>
                </a:solidFill>
                <a:latin typeface="Inter Bold"/>
                <a:ea typeface="Inter Bold"/>
                <a:cs typeface="Inter Bold"/>
                <a:sym typeface="Inter Bold"/>
              </a:rPr>
              <a:t>ey Insights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06613" y="3079222"/>
            <a:ext cx="10074775" cy="617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20"/>
              </a:lnSpc>
            </a:pPr>
            <a:r>
              <a:rPr lang="en-US" sz="2729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Based on the completed dashboard analysis:</a:t>
            </a:r>
          </a:p>
          <a:p>
            <a:pPr algn="just" marL="589234" indent="-294617" lvl="1">
              <a:lnSpc>
                <a:spcPts val="3820"/>
              </a:lnSpc>
              <a:buFont typeface="Arial"/>
              <a:buChar char="•"/>
            </a:pPr>
            <a:r>
              <a:rPr lang="en-US" sz="2729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Most money made: Buy and Hold</a:t>
            </a:r>
          </a:p>
          <a:p>
            <a:pPr algn="just" marL="589234" indent="-294617" lvl="1">
              <a:lnSpc>
                <a:spcPts val="3820"/>
              </a:lnSpc>
              <a:buFont typeface="Arial"/>
              <a:buChar char="•"/>
            </a:pPr>
            <a:r>
              <a:rPr lang="en-US" sz="2729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Least overall risk: Timing</a:t>
            </a:r>
          </a:p>
          <a:p>
            <a:pPr algn="just" marL="589234" indent="-294617" lvl="1">
              <a:lnSpc>
                <a:spcPts val="3820"/>
              </a:lnSpc>
              <a:buFont typeface="Arial"/>
              <a:buChar char="•"/>
            </a:pPr>
            <a:r>
              <a:rPr lang="en-US" sz="2729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Best risk-adjusted efficiency: Timing had the strongest Sharpe Ratio</a:t>
            </a:r>
          </a:p>
          <a:p>
            <a:pPr algn="just">
              <a:lnSpc>
                <a:spcPts val="3820"/>
              </a:lnSpc>
            </a:pPr>
          </a:p>
          <a:p>
            <a:pPr algn="just">
              <a:lnSpc>
                <a:spcPts val="3820"/>
              </a:lnSpc>
            </a:pPr>
            <a:r>
              <a:rPr lang="en-US" b="true" sz="2729" u="sng">
                <a:solidFill>
                  <a:srgbClr val="3232C4"/>
                </a:solidFill>
                <a:latin typeface="Inter Bold"/>
                <a:ea typeface="Inter Bold"/>
                <a:cs typeface="Inter Bold"/>
                <a:sym typeface="Inter Bold"/>
              </a:rPr>
              <a:t>What does this mean?</a:t>
            </a:r>
          </a:p>
          <a:p>
            <a:pPr algn="just">
              <a:lnSpc>
                <a:spcPts val="3820"/>
              </a:lnSpc>
            </a:pPr>
            <a:r>
              <a:rPr lang="en-US" sz="2729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The Buy and Hold performed better when the goal was to maximize total profit.</a:t>
            </a:r>
          </a:p>
          <a:p>
            <a:pPr algn="just">
              <a:lnSpc>
                <a:spcPts val="3820"/>
              </a:lnSpc>
            </a:pPr>
          </a:p>
          <a:p>
            <a:pPr algn="just">
              <a:lnSpc>
                <a:spcPts val="3820"/>
              </a:lnSpc>
            </a:pPr>
            <a:r>
              <a:rPr lang="en-US" sz="2729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The Market Timing Strategy performed better when the goal was to reduce volatility, improve efficiency, and limit losses.</a:t>
            </a:r>
          </a:p>
          <a:p>
            <a:pPr algn="just">
              <a:lnSpc>
                <a:spcPts val="382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6155137" y="1047988"/>
            <a:ext cx="1682238" cy="34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Page 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E5E5E5">
                <a:alpha val="100000"/>
              </a:srgbClr>
            </a:gs>
            <a:gs pos="100000">
              <a:srgbClr val="FFE9F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041338"/>
            <a:ext cx="15302525" cy="5913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2"/>
              </a:lnSpc>
              <a:spcBef>
                <a:spcPct val="0"/>
              </a:spcBef>
            </a:pPr>
            <a:r>
              <a:rPr lang="en-US" sz="2601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When it comes to investing to make a pr</a:t>
            </a:r>
            <a:r>
              <a:rPr lang="en-US" sz="2601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ofit, Buy and Hold appears to be the better strategy for casual investors because it produced the highest overall value.</a:t>
            </a:r>
          </a:p>
          <a:p>
            <a:pPr algn="l">
              <a:lnSpc>
                <a:spcPts val="3642"/>
              </a:lnSpc>
              <a:spcBef>
                <a:spcPct val="0"/>
              </a:spcBef>
            </a:pPr>
          </a:p>
          <a:p>
            <a:pPr algn="l">
              <a:lnSpc>
                <a:spcPts val="3642"/>
              </a:lnSpc>
              <a:spcBef>
                <a:spcPct val="0"/>
              </a:spcBef>
            </a:pPr>
            <a:r>
              <a:rPr lang="en-US" sz="2601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However, Timing performed better in terms of:</a:t>
            </a:r>
          </a:p>
          <a:p>
            <a:pPr algn="l" marL="561728" indent="-280864" lvl="1">
              <a:lnSpc>
                <a:spcPts val="3642"/>
              </a:lnSpc>
              <a:spcBef>
                <a:spcPct val="0"/>
              </a:spcBef>
              <a:buFont typeface="Arial"/>
              <a:buChar char="•"/>
            </a:pPr>
            <a:r>
              <a:rPr lang="en-US" sz="2601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lower volatility</a:t>
            </a:r>
          </a:p>
          <a:p>
            <a:pPr algn="l" marL="561728" indent="-280864" lvl="1">
              <a:lnSpc>
                <a:spcPts val="3642"/>
              </a:lnSpc>
              <a:spcBef>
                <a:spcPct val="0"/>
              </a:spcBef>
              <a:buFont typeface="Arial"/>
              <a:buChar char="•"/>
            </a:pPr>
            <a:r>
              <a:rPr lang="en-US" sz="2601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better Sharpe Ratio</a:t>
            </a:r>
          </a:p>
          <a:p>
            <a:pPr algn="l" marL="561728" indent="-280864" lvl="1">
              <a:lnSpc>
                <a:spcPts val="3642"/>
              </a:lnSpc>
              <a:spcBef>
                <a:spcPct val="0"/>
              </a:spcBef>
              <a:buFont typeface="Arial"/>
              <a:buChar char="•"/>
            </a:pPr>
            <a:r>
              <a:rPr lang="en-US" sz="2601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smaller major losses</a:t>
            </a:r>
          </a:p>
          <a:p>
            <a:pPr algn="l">
              <a:lnSpc>
                <a:spcPts val="3642"/>
              </a:lnSpc>
              <a:spcBef>
                <a:spcPct val="0"/>
              </a:spcBef>
            </a:pPr>
          </a:p>
          <a:p>
            <a:pPr algn="l">
              <a:lnSpc>
                <a:spcPts val="3642"/>
              </a:lnSpc>
              <a:spcBef>
                <a:spcPct val="0"/>
              </a:spcBef>
            </a:pPr>
            <a:r>
              <a:rPr lang="en-US" sz="2601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Final Takeaway</a:t>
            </a:r>
          </a:p>
          <a:p>
            <a:pPr algn="l">
              <a:lnSpc>
                <a:spcPts val="3642"/>
              </a:lnSpc>
              <a:spcBef>
                <a:spcPct val="0"/>
              </a:spcBef>
            </a:pPr>
            <a:r>
              <a:rPr lang="en-US" sz="2601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 There is no single best strategy in every category.</a:t>
            </a:r>
          </a:p>
          <a:p>
            <a:pPr algn="l" marL="561728" indent="-280864" lvl="1">
              <a:lnSpc>
                <a:spcPts val="3642"/>
              </a:lnSpc>
              <a:spcBef>
                <a:spcPct val="0"/>
              </a:spcBef>
              <a:buFont typeface="Arial"/>
              <a:buChar char="•"/>
            </a:pPr>
            <a:r>
              <a:rPr lang="en-US" sz="2601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Choose Buy and Hold if the priority is maximum profit</a:t>
            </a:r>
          </a:p>
          <a:p>
            <a:pPr algn="l" marL="561728" indent="-280864" lvl="1">
              <a:lnSpc>
                <a:spcPts val="3642"/>
              </a:lnSpc>
              <a:spcBef>
                <a:spcPct val="0"/>
              </a:spcBef>
              <a:buFont typeface="Arial"/>
              <a:buChar char="•"/>
            </a:pPr>
            <a:r>
              <a:rPr lang="en-US" sz="2601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Choose Timing if the priority is lower risk and better risk-adjusted performance</a:t>
            </a:r>
          </a:p>
          <a:p>
            <a:pPr algn="l">
              <a:lnSpc>
                <a:spcPts val="3642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42975"/>
            <a:ext cx="9056787" cy="746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4"/>
              </a:lnSpc>
            </a:pPr>
            <a:r>
              <a:rPr lang="en-US" sz="4353" b="true">
                <a:solidFill>
                  <a:srgbClr val="3232C4"/>
                </a:solidFill>
                <a:latin typeface="Inter Bold"/>
                <a:ea typeface="Inter Bold"/>
                <a:cs typeface="Inter Bold"/>
                <a:sym typeface="Inter Bold"/>
              </a:rPr>
              <a:t>Final Answer to the Main Problem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5E5E5">
                <a:alpha val="100000"/>
              </a:srgbClr>
            </a:gs>
            <a:gs pos="100000">
              <a:srgbClr val="FFE9F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30844">
            <a:off x="12274702" y="-4015342"/>
            <a:ext cx="13085240" cy="10682314"/>
          </a:xfrm>
          <a:custGeom>
            <a:avLst/>
            <a:gdLst/>
            <a:ahLst/>
            <a:cxnLst/>
            <a:rect r="r" b="b" t="t" l="l"/>
            <a:pathLst>
              <a:path h="10682314" w="13085240">
                <a:moveTo>
                  <a:pt x="0" y="0"/>
                </a:moveTo>
                <a:lnTo>
                  <a:pt x="13085240" y="0"/>
                </a:lnTo>
                <a:lnTo>
                  <a:pt x="13085240" y="10682315"/>
                </a:lnTo>
                <a:lnTo>
                  <a:pt x="0" y="10682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852748" y="7431928"/>
            <a:ext cx="7315200" cy="3857105"/>
          </a:xfrm>
          <a:custGeom>
            <a:avLst/>
            <a:gdLst/>
            <a:ahLst/>
            <a:cxnLst/>
            <a:rect r="r" b="b" t="t" l="l"/>
            <a:pathLst>
              <a:path h="3857105" w="7315200">
                <a:moveTo>
                  <a:pt x="7315200" y="0"/>
                </a:moveTo>
                <a:lnTo>
                  <a:pt x="0" y="0"/>
                </a:lnTo>
                <a:lnTo>
                  <a:pt x="0" y="3857105"/>
                </a:lnTo>
                <a:lnTo>
                  <a:pt x="7315200" y="3857105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155137" y="1047988"/>
            <a:ext cx="1682238" cy="34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Page 9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95808" y="688069"/>
            <a:ext cx="6435338" cy="106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9"/>
              </a:lnSpc>
            </a:pPr>
            <a:r>
              <a:rPr lang="en-US" sz="8606" u="sng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Ref</a:t>
            </a:r>
            <a:r>
              <a:rPr lang="en-US" sz="8606" u="sng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erences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95808" y="2269547"/>
            <a:ext cx="9963554" cy="7667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8"/>
              </a:lnSpc>
            </a:pPr>
            <a:r>
              <a:rPr lang="en-US" sz="242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Data Analytics / Visual Analytics tools:</a:t>
            </a:r>
            <a:r>
              <a:rPr lang="en-US" sz="242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l" marL="522564" indent="-261282" lvl="1">
              <a:lnSpc>
                <a:spcPts val="3388"/>
              </a:lnSpc>
              <a:buFont typeface="Arial"/>
              <a:buChar char="•"/>
            </a:pPr>
            <a:r>
              <a:rPr lang="en-US" sz="242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Power BI: </a:t>
            </a:r>
            <a:r>
              <a:rPr lang="en-US" sz="2420" u="sng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  <a:hlinkClick r:id="rId5" tooltip="https://learn.microsoft.com/en-us/power-bi/"/>
              </a:rPr>
              <a:t>https://learn.microsoft.com/en-us/power-bi/</a:t>
            </a:r>
            <a:r>
              <a:rPr lang="en-US" sz="242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l">
              <a:lnSpc>
                <a:spcPts val="3388"/>
              </a:lnSpc>
            </a:pPr>
          </a:p>
          <a:p>
            <a:pPr algn="l">
              <a:lnSpc>
                <a:spcPts val="3388"/>
              </a:lnSpc>
              <a:spcBef>
                <a:spcPct val="0"/>
              </a:spcBef>
            </a:pPr>
            <a:r>
              <a:rPr lang="en-US" sz="242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Data ret</a:t>
            </a:r>
            <a:r>
              <a:rPr lang="en-US" sz="242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rieval and cleaning: </a:t>
            </a:r>
          </a:p>
          <a:p>
            <a:pPr algn="l" marL="522564" indent="-261282" lvl="1">
              <a:lnSpc>
                <a:spcPts val="3388"/>
              </a:lnSpc>
              <a:spcBef>
                <a:spcPct val="0"/>
              </a:spcBef>
              <a:buFont typeface="Arial"/>
              <a:buChar char="•"/>
            </a:pPr>
            <a:r>
              <a:rPr lang="en-US" sz="242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Python: </a:t>
            </a:r>
            <a:r>
              <a:rPr lang="en-US" sz="2420" u="sng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https://docs.python.org/3/tutorial/index.html</a:t>
            </a:r>
          </a:p>
          <a:p>
            <a:pPr algn="l">
              <a:lnSpc>
                <a:spcPts val="3388"/>
              </a:lnSpc>
              <a:spcBef>
                <a:spcPct val="0"/>
              </a:spcBef>
            </a:pPr>
          </a:p>
          <a:p>
            <a:pPr algn="l">
              <a:lnSpc>
                <a:spcPts val="3388"/>
              </a:lnSpc>
              <a:spcBef>
                <a:spcPct val="0"/>
              </a:spcBef>
            </a:pPr>
            <a:r>
              <a:rPr lang="en-US" sz="242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Datasets:</a:t>
            </a:r>
          </a:p>
          <a:p>
            <a:pPr algn="l">
              <a:lnSpc>
                <a:spcPts val="3388"/>
              </a:lnSpc>
              <a:spcBef>
                <a:spcPct val="0"/>
              </a:spcBef>
            </a:pPr>
            <a:r>
              <a:rPr lang="en-US" sz="242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Yahoo Finance </a:t>
            </a:r>
          </a:p>
          <a:p>
            <a:pPr algn="l" marL="522564" indent="-261282" lvl="1">
              <a:lnSpc>
                <a:spcPts val="3388"/>
              </a:lnSpc>
              <a:spcBef>
                <a:spcPct val="0"/>
              </a:spcBef>
              <a:buFont typeface="Arial"/>
              <a:buChar char="•"/>
            </a:pPr>
            <a:r>
              <a:rPr lang="en-US" sz="2420" u="sng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  <a:hlinkClick r:id="rId6" tooltip="https://python-yahoofinance.readthedocs.io/en/latest/api.html"/>
              </a:rPr>
              <a:t>https://python-yahoofinance.readthedocs.io/en/latest/api.html</a:t>
            </a:r>
            <a:r>
              <a:rPr lang="en-US" sz="242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l" marL="522564" indent="-261282" lvl="1">
              <a:lnSpc>
                <a:spcPts val="3388"/>
              </a:lnSpc>
              <a:spcBef>
                <a:spcPct val="0"/>
              </a:spcBef>
              <a:buFont typeface="Arial"/>
              <a:buChar char="•"/>
            </a:pPr>
            <a:r>
              <a:rPr lang="en-US" sz="2420" u="sng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  <a:hlinkClick r:id="rId7" tooltip="https://ranaroussi.github.io/yfinance/"/>
              </a:rPr>
              <a:t>https://ranaroussi.github.io/yfinance/</a:t>
            </a:r>
            <a:r>
              <a:rPr lang="en-US" sz="242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l" marL="522564" indent="-261282" lvl="1">
              <a:lnSpc>
                <a:spcPts val="3388"/>
              </a:lnSpc>
              <a:spcBef>
                <a:spcPct val="0"/>
              </a:spcBef>
              <a:buFont typeface="Arial"/>
              <a:buChar char="•"/>
            </a:pPr>
            <a:r>
              <a:rPr lang="en-US" sz="2420" u="sng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  <a:hlinkClick r:id="rId8" tooltip="https://finance.yahoo.com"/>
              </a:rPr>
              <a:t>https://finance.yahoo.com/</a:t>
            </a:r>
            <a:r>
              <a:rPr lang="en-US" sz="242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l">
              <a:lnSpc>
                <a:spcPts val="3388"/>
              </a:lnSpc>
              <a:spcBef>
                <a:spcPct val="0"/>
              </a:spcBef>
            </a:pPr>
          </a:p>
          <a:p>
            <a:pPr algn="l">
              <a:lnSpc>
                <a:spcPts val="3388"/>
              </a:lnSpc>
              <a:spcBef>
                <a:spcPct val="0"/>
              </a:spcBef>
            </a:pPr>
            <a:r>
              <a:rPr lang="en-US" sz="242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Project Management Platform:  </a:t>
            </a:r>
          </a:p>
          <a:p>
            <a:pPr algn="l" marL="522564" indent="-261282" lvl="1">
              <a:lnSpc>
                <a:spcPts val="3388"/>
              </a:lnSpc>
              <a:spcBef>
                <a:spcPct val="0"/>
              </a:spcBef>
              <a:buFont typeface="Arial"/>
              <a:buChar char="•"/>
            </a:pPr>
            <a:r>
              <a:rPr lang="en-US" sz="242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Hive: </a:t>
            </a:r>
            <a:r>
              <a:rPr lang="en-US" sz="2420" u="sng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  <a:hlinkClick r:id="rId9" tooltip="https://hive.com"/>
              </a:rPr>
              <a:t>https://hive.com/</a:t>
            </a:r>
            <a:r>
              <a:rPr lang="en-US" sz="242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l">
              <a:lnSpc>
                <a:spcPts val="3388"/>
              </a:lnSpc>
              <a:spcBef>
                <a:spcPct val="0"/>
              </a:spcBef>
            </a:pPr>
          </a:p>
          <a:p>
            <a:pPr algn="l">
              <a:lnSpc>
                <a:spcPts val="3388"/>
              </a:lnSpc>
              <a:spcBef>
                <a:spcPct val="0"/>
              </a:spcBef>
            </a:pPr>
            <a:r>
              <a:rPr lang="en-US" sz="242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Github:</a:t>
            </a:r>
          </a:p>
          <a:p>
            <a:pPr algn="l" marL="522564" indent="-261282" lvl="1">
              <a:lnSpc>
                <a:spcPts val="3388"/>
              </a:lnSpc>
              <a:spcBef>
                <a:spcPct val="0"/>
              </a:spcBef>
              <a:buFont typeface="Arial"/>
              <a:buChar char="•"/>
            </a:pPr>
            <a:r>
              <a:rPr lang="en-US" sz="2420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https://github.com/AdaTaing/COMP3250-Project</a:t>
            </a:r>
          </a:p>
          <a:p>
            <a:pPr algn="ctr">
              <a:lnSpc>
                <a:spcPts val="338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5E5E5">
                <a:alpha val="100000"/>
              </a:srgbClr>
            </a:gs>
            <a:gs pos="100000">
              <a:srgbClr val="FFE9F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30844">
            <a:off x="12274702" y="-4015342"/>
            <a:ext cx="13085240" cy="10682314"/>
          </a:xfrm>
          <a:custGeom>
            <a:avLst/>
            <a:gdLst/>
            <a:ahLst/>
            <a:cxnLst/>
            <a:rect r="r" b="b" t="t" l="l"/>
            <a:pathLst>
              <a:path h="10682314" w="13085240">
                <a:moveTo>
                  <a:pt x="0" y="0"/>
                </a:moveTo>
                <a:lnTo>
                  <a:pt x="13085240" y="0"/>
                </a:lnTo>
                <a:lnTo>
                  <a:pt x="13085240" y="10682315"/>
                </a:lnTo>
                <a:lnTo>
                  <a:pt x="0" y="10682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43699" y="3186188"/>
            <a:ext cx="7089078" cy="353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26"/>
              </a:lnSpc>
            </a:pPr>
            <a:r>
              <a:rPr lang="en-US" b="true" sz="14973">
                <a:solidFill>
                  <a:srgbClr val="3232C4"/>
                </a:solidFill>
                <a:latin typeface="Inter Bold"/>
                <a:ea typeface="Inter Bold"/>
                <a:cs typeface="Inter Bold"/>
                <a:sym typeface="Inter Bold"/>
              </a:rPr>
              <a:t>Thank You.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155137" y="1047988"/>
            <a:ext cx="1682238" cy="34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Page 10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43699" y="6953882"/>
            <a:ext cx="7102698" cy="34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7"/>
              </a:lnSpc>
              <a:spcBef>
                <a:spcPct val="0"/>
              </a:spcBef>
            </a:pPr>
            <a:r>
              <a:rPr lang="en-US" sz="1955">
                <a:solidFill>
                  <a:srgbClr val="3232C4"/>
                </a:solidFill>
                <a:latin typeface="Inter"/>
                <a:ea typeface="Inter"/>
                <a:cs typeface="Inter"/>
                <a:sym typeface="Inter"/>
              </a:rPr>
              <a:t>Github: https://github.com/AdaTaing/COMP3250-Project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DAHFY2DfYAE</dc:identifier>
  <dcterms:modified xsi:type="dcterms:W3CDTF">2011-08-01T06:04:30Z</dcterms:modified>
  <cp:revision>1</cp:revision>
  <dc:title>COMP 3250 FINAL PROJECT</dc:title>
</cp:coreProperties>
</file>